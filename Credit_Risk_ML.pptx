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BB58F22-76EA-F792-5A8C-36048430FE22}">
          <p14:sldIdLst>
            <p14:sldId id="256"/>
            <p14:sldId id="257"/>
          </p14:sldIdLst>
        </p14:section>
        <p14:section name="Build" id="{463588A3-2FE6-4A51-7517-3543A0C0ABAD}">
          <p14:sldIdLst>
            <p14:sldId id="258"/>
            <p14:sldId id="259"/>
            <p14:sldId id="260"/>
            <p14:sldId id="261"/>
          </p14:sldIdLst>
        </p14:section>
        <p14:section name="Monitor" id="{64AF2664-0607-920B-7404-72BCAD6A9527}">
          <p14:sldIdLst>
            <p14:sldId id="262"/>
            <p14:sldId id="263"/>
          </p14:sldIdLst>
        </p14:section>
        <p14:section name="Govern" id="{A319D1AF-552D-AC2D-3886-1ED4B957B0BB}">
          <p14:sldIdLst>
            <p14:sldId id="264"/>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093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how raw monthly loan snapshots become monitored default predictions. Structure: design choices (slides 3-6), monitoring results (7-8), operating rules (9) and deployment fit (10).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OOT AUC 0.860 at training; 0.79-0.81 on four unseen cohorts. Clickstream features are empty for loans from Jul 2024 (22 of 47 features), which drives the score PSI of about 4. This is a data feed fault, not model drift.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choice: bronze keeps data as received, silver cleans and types it once, gold holds one label store and one feature store that every ML stage reads. One Airflow DAG runs all stages monthly with backfill, one run at a time; gates skip dates without features or models; failed tasks retry once; each stage writes its own dated partition so reruns are safe.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happens once in silver. Features are built at origination and frozen; the label (30+ days past due at 6 months on book) is only read six months later, which prevents leakage. Labels and features join on loan_id, never on date. Redundant features were dropped after correlation clustering.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window is 12 months with a customer-grouped 80/20 split, then a 2-month out-of-time window. Preprocessing is fitted on training data only. Tuning is 10 random draws x 3 customer-grouped folds; shallow trees and L1/L2 penalties keep the model simple. Limitation: only one model family was tuned; a logistic-regression baseline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training date produces one artefact (model, preprocessor, feature list, metrics and the monitoring reference), written to a temp file then renamed so it is never half-written. Each month scores the loans originated that month with every earlier model, into one gold partition per model per month.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AUC as the chance a defaulting loan is scored above a good one. Four unseen cohorts score 0.79-0.81 against the 0.860 reference with no downward trend. The deployed ROC curves sit below the reference; the missing clickstream inputs may explain part of the gap.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PSI measures score shift and CSI measures feature shift. Score PSI versus training is 3.8-4.0 because clickstream features are empty; month-on-month PSI stays low because the fault is constant. The heatmap's top 20 features by CSI are all clickstream features, and the max CSI reads 10 each month. This points to a feed fault to fix, not a reason to retrain.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Traffic-light rules turn the monitoring metrics into actions. Latest read: data quality red, max feature CSI red, AUC amber. The AUC bands are proposed; PSI, CSI and missing-rate cut-offs are those coded in the monitor. Steps: detect, triage within 5 days, retrain a challenger, validate against the champion, promote with rollback by rescoring with the prior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Serving: monthly batch on Airflow fits a monthly credit cycle and is simple, auditable and backfillable; add a model registry when several models need staged promotion; a real-time API is only needed for instant decisions. Release strategy is separate: shadow means the challenger scores the same loans with no effect on decisions, and is compared with the champion once 6-month labels mature. Canary and A/B tests change live decisions, need a decision engine that can split loans, and are slow and low-powered here (about 500 loans a month, 6-month label lag). Recommendation: stay on batch, shadow first, then promote; rollback is rescoring with the prior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Credit-risk ML pipeline  |  CS608</a:t>
            </a:r>
            <a:endParaRPr lang="en-US" sz="1000" dirty="0"/>
          </a:p>
        </p:txBody>
      </p:sp>
      <p:sp>
        <p:nvSpPr>
          <p:cNvPr id="3" name="Text 1"/>
          <p:cNvSpPr>
            <a:spLocks noGrp="1"/>
          </p:cNvSpPr>
          <p:nvPr>
            <p:ph type="title" idx="101" hasCustomPrompt="1"/>
          </p:nvPr>
        </p:nvSpPr>
        <p:spPr>
          <a:xfrm>
            <a:off x="548640" y="274320"/>
            <a:ext cx="11064240" cy="1005840"/>
          </a:xfrm>
          <a:prstGeom prst="rect">
            <a:avLst/>
          </a:prstGeom>
          <a:noFill/>
          <a:ln/>
        </p:spPr>
        <p:txBody>
          <a:bodyPr wrap="square" rtlCol="0"/>
          <a:lstStyle>
            <a:lvl1pPr marL="0" indent="0">
              <a:buNone/>
              <a:defRPr lang="en-US" sz="2800" b="1" dirty="0">
                <a:solidFill>
                  <a:schemeClr val="tx2"/>
                </a:solidFill>
              </a:defRPr>
            </a:lvl1pPr>
          </a:lstStyle>
          <a:p>
            <a:pPr marL="0" indent="0">
              <a:buNone/>
            </a:pPr>
            <a:endParaRPr lang="en-US" sz="2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txBody>
          <a:bodyPr/>
          <a:lstStyle/>
          <a:p>
            <a:endParaRPr lang="en-SG"/>
          </a:p>
        </p:txBody>
      </p:sp>
      <p:sp>
        <p:nvSpPr>
          <p:cNvPr id="3" name="Text 1"/>
          <p:cNvSpPr>
            <a:spLocks noGrp="1"/>
          </p:cNvSpPr>
          <p:nvPr>
            <p:ph type="title" idx="101" hasCustomPrompt="1"/>
          </p:nvPr>
        </p:nvSpPr>
        <p:spPr>
          <a:xfrm>
            <a:off x="731520" y="1554480"/>
            <a:ext cx="7223760" cy="256032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554480"/>
            <a:ext cx="7223760" cy="2560320"/>
          </a:xfrm>
          <a:prstGeom prst="rect">
            <a:avLst/>
          </a:prstGeom>
          <a:noFill/>
          <a:ln/>
        </p:spPr>
        <p:txBody>
          <a:bodyPr wrap="square" lIns="0" tIns="0" rIns="0" bIns="0" rtlCol="0" anchor="t"/>
          <a:lstStyle/>
          <a:p>
            <a:pPr marL="0" indent="0">
              <a:buNone/>
            </a:pPr>
            <a:r>
              <a:rPr lang="en-US" sz="3800" b="1" dirty="0">
                <a:solidFill>
                  <a:schemeClr val="bg1"/>
                </a:solidFill>
              </a:rPr>
              <a:t>End-to-end credit-risk ML pipeline</a:t>
            </a:r>
            <a:endParaRPr lang="en-US" sz="3800" dirty="0"/>
          </a:p>
        </p:txBody>
      </p:sp>
      <p:sp>
        <p:nvSpPr>
          <p:cNvPr id="3" name="text1"/>
          <p:cNvSpPr txBox="1"/>
          <p:nvPr/>
        </p:nvSpPr>
        <p:spPr>
          <a:xfrm>
            <a:off x="731520" y="4754880"/>
            <a:ext cx="7223760" cy="822960"/>
          </a:xfrm>
          <a:prstGeom prst="rect">
            <a:avLst/>
          </a:prstGeom>
          <a:noFill/>
          <a:ln/>
        </p:spPr>
        <p:txBody>
          <a:bodyPr wrap="square" lIns="0" tIns="0" rIns="0" bIns="0" rtlCol="0" anchor="t"/>
          <a:lstStyle/>
          <a:p>
            <a:pPr marL="0" indent="0">
              <a:buNone/>
            </a:pPr>
            <a:r>
              <a:rPr lang="en-US" sz="1600" dirty="0">
                <a:solidFill>
                  <a:schemeClr val="accent4"/>
                </a:solidFill>
              </a:rPr>
              <a:t>CS608  |  Prepared by Koh We Kiat</a:t>
            </a:r>
          </a:p>
          <a:p>
            <a:pPr marL="0" indent="0">
              <a:buNone/>
            </a:pPr>
            <a:r>
              <a:rPr lang="en-US" sz="1600" dirty="0">
                <a:solidFill>
                  <a:schemeClr val="accent4"/>
                </a:solidFill>
              </a:rPr>
              <a:t> Singapore Management University  |  October 2026</a:t>
            </a:r>
            <a:endParaRPr lang="en-US" sz="1600" dirty="0"/>
          </a:p>
        </p:txBody>
      </p:sp>
      <p:sp>
        <p:nvSpPr>
          <p:cNvPr id="4" name="medal0"/>
          <p:cNvSpPr/>
          <p:nvPr/>
        </p:nvSpPr>
        <p:spPr>
          <a:xfrm>
            <a:off x="8503920" y="1371600"/>
            <a:ext cx="1188720" cy="1188720"/>
          </a:xfrm>
          <a:prstGeom prst="ellipse">
            <a:avLst/>
          </a:prstGeom>
          <a:solidFill>
            <a:schemeClr val="accent3"/>
          </a:solidFill>
          <a:ln/>
        </p:spPr>
        <p:txBody>
          <a:bodyPr/>
          <a:lstStyle/>
          <a:p>
            <a:endParaRPr lang="en-SG"/>
          </a:p>
        </p:txBody>
      </p:sp>
      <p:sp>
        <p:nvSpPr>
          <p:cNvPr id="5" name="text2"/>
          <p:cNvSpPr txBox="1"/>
          <p:nvPr/>
        </p:nvSpPr>
        <p:spPr>
          <a:xfrm>
            <a:off x="9921240" y="1600200"/>
            <a:ext cx="2011680" cy="731520"/>
          </a:xfrm>
          <a:prstGeom prst="rect">
            <a:avLst/>
          </a:prstGeom>
          <a:noFill/>
          <a:ln/>
        </p:spPr>
        <p:txBody>
          <a:bodyPr wrap="square" lIns="0" tIns="0" rIns="0" bIns="0" rtlCol="0" anchor="t"/>
          <a:lstStyle/>
          <a:p>
            <a:pPr marL="0" indent="0">
              <a:buNone/>
            </a:pPr>
            <a:r>
              <a:rPr lang="en-US" sz="1800" b="1" dirty="0">
                <a:solidFill>
                  <a:schemeClr val="bg1"/>
                </a:solidFill>
              </a:rPr>
              <a:t>Bronze</a:t>
            </a:r>
            <a:endParaRPr lang="en-US" sz="1400" dirty="0"/>
          </a:p>
          <a:p>
            <a:pPr marL="0" indent="0">
              <a:buNone/>
            </a:pPr>
            <a:r>
              <a:rPr lang="en-US" sz="1400" dirty="0">
                <a:solidFill>
                  <a:schemeClr val="bg1"/>
                </a:solidFill>
              </a:rPr>
              <a:t>raw snapshots</a:t>
            </a:r>
            <a:endParaRPr lang="en-US" sz="1400" dirty="0"/>
          </a:p>
        </p:txBody>
      </p:sp>
      <p:sp>
        <p:nvSpPr>
          <p:cNvPr id="6" name="medal1"/>
          <p:cNvSpPr/>
          <p:nvPr/>
        </p:nvSpPr>
        <p:spPr>
          <a:xfrm>
            <a:off x="8503920" y="2926080"/>
            <a:ext cx="1188720" cy="1188720"/>
          </a:xfrm>
          <a:prstGeom prst="ellipse">
            <a:avLst/>
          </a:prstGeom>
          <a:solidFill>
            <a:schemeClr val="accent4"/>
          </a:solidFill>
          <a:ln/>
        </p:spPr>
        <p:txBody>
          <a:bodyPr/>
          <a:lstStyle/>
          <a:p>
            <a:endParaRPr lang="en-SG"/>
          </a:p>
        </p:txBody>
      </p:sp>
      <p:sp>
        <p:nvSpPr>
          <p:cNvPr id="7" name="text3"/>
          <p:cNvSpPr txBox="1"/>
          <p:nvPr/>
        </p:nvSpPr>
        <p:spPr>
          <a:xfrm>
            <a:off x="9921240" y="3154680"/>
            <a:ext cx="2011680" cy="731520"/>
          </a:xfrm>
          <a:prstGeom prst="rect">
            <a:avLst/>
          </a:prstGeom>
          <a:noFill/>
          <a:ln/>
        </p:spPr>
        <p:txBody>
          <a:bodyPr wrap="square" lIns="0" tIns="0" rIns="0" bIns="0" rtlCol="0" anchor="t"/>
          <a:lstStyle/>
          <a:p>
            <a:pPr marL="0" indent="0">
              <a:buNone/>
            </a:pPr>
            <a:r>
              <a:rPr lang="en-US" sz="1800" b="1" dirty="0">
                <a:solidFill>
                  <a:schemeClr val="bg1"/>
                </a:solidFill>
              </a:rPr>
              <a:t>Silver</a:t>
            </a:r>
            <a:endParaRPr lang="en-US" sz="1400" dirty="0"/>
          </a:p>
          <a:p>
            <a:pPr marL="0" indent="0">
              <a:buNone/>
            </a:pPr>
            <a:r>
              <a:rPr lang="en-US" sz="1400" dirty="0">
                <a:solidFill>
                  <a:schemeClr val="bg1"/>
                </a:solidFill>
              </a:rPr>
              <a:t>cleaned tables</a:t>
            </a:r>
            <a:endParaRPr lang="en-US" sz="1400" dirty="0"/>
          </a:p>
        </p:txBody>
      </p:sp>
      <p:sp>
        <p:nvSpPr>
          <p:cNvPr id="8" name="medal2"/>
          <p:cNvSpPr/>
          <p:nvPr/>
        </p:nvSpPr>
        <p:spPr>
          <a:xfrm>
            <a:off x="8503920" y="4480560"/>
            <a:ext cx="1188720" cy="1188720"/>
          </a:xfrm>
          <a:prstGeom prst="ellipse">
            <a:avLst/>
          </a:prstGeom>
          <a:solidFill>
            <a:schemeClr val="accent5"/>
          </a:solidFill>
          <a:ln/>
        </p:spPr>
        <p:txBody>
          <a:bodyPr/>
          <a:lstStyle/>
          <a:p>
            <a:endParaRPr lang="en-SG"/>
          </a:p>
        </p:txBody>
      </p:sp>
      <p:sp>
        <p:nvSpPr>
          <p:cNvPr id="9" name="text4"/>
          <p:cNvSpPr txBox="1"/>
          <p:nvPr/>
        </p:nvSpPr>
        <p:spPr>
          <a:xfrm>
            <a:off x="9921240" y="4709160"/>
            <a:ext cx="2011680" cy="731520"/>
          </a:xfrm>
          <a:prstGeom prst="rect">
            <a:avLst/>
          </a:prstGeom>
          <a:noFill/>
          <a:ln/>
        </p:spPr>
        <p:txBody>
          <a:bodyPr wrap="square" lIns="0" tIns="0" rIns="0" bIns="0" rtlCol="0" anchor="t"/>
          <a:lstStyle/>
          <a:p>
            <a:pPr marL="0" indent="0">
              <a:buNone/>
            </a:pPr>
            <a:r>
              <a:rPr lang="en-US" sz="1800" b="1" dirty="0">
                <a:solidFill>
                  <a:schemeClr val="bg1"/>
                </a:solidFill>
              </a:rPr>
              <a:t>Gold</a:t>
            </a:r>
            <a:endParaRPr lang="en-US" sz="1400" dirty="0"/>
          </a:p>
          <a:p>
            <a:pPr marL="0" indent="0">
              <a:buNone/>
            </a:pPr>
            <a:r>
              <a:rPr lang="en-US" sz="1400" dirty="0">
                <a:solidFill>
                  <a:schemeClr val="bg1"/>
                </a:solidFill>
              </a:rPr>
              <a:t>ready for ML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A monthly pipeline now trains, scores and monitors a loan-default model with no manual steps</a:t>
            </a:r>
            <a:endParaRPr lang="en-US" sz="2800" dirty="0"/>
          </a:p>
        </p:txBody>
      </p:sp>
      <p:sp>
        <p:nvSpPr>
          <p:cNvPr id="3" name="card5"/>
          <p:cNvSpPr/>
          <p:nvPr/>
        </p:nvSpPr>
        <p:spPr>
          <a:xfrm>
            <a:off x="548640" y="1463040"/>
            <a:ext cx="3566160" cy="1920240"/>
          </a:xfrm>
          <a:prstGeom prst="roundRect">
            <a:avLst>
              <a:gd name="adj" fmla="val 4762"/>
            </a:avLst>
          </a:prstGeom>
          <a:solidFill>
            <a:schemeClr val="tx2"/>
          </a:solidFill>
          <a:ln/>
        </p:spPr>
        <p:txBody>
          <a:bodyPr/>
          <a:lstStyle/>
          <a:p>
            <a:endParaRPr lang="en-SG"/>
          </a:p>
        </p:txBody>
      </p:sp>
      <p:sp>
        <p:nvSpPr>
          <p:cNvPr id="4" name="text6"/>
          <p:cNvSpPr txBox="1"/>
          <p:nvPr/>
        </p:nvSpPr>
        <p:spPr>
          <a:xfrm>
            <a:off x="777240" y="1600200"/>
            <a:ext cx="3108960" cy="822960"/>
          </a:xfrm>
          <a:prstGeom prst="rect">
            <a:avLst/>
          </a:prstGeom>
          <a:noFill/>
          <a:ln/>
        </p:spPr>
        <p:txBody>
          <a:bodyPr wrap="square" lIns="0" tIns="0" rIns="0" bIns="0" rtlCol="0" anchor="ctr"/>
          <a:lstStyle/>
          <a:p>
            <a:pPr marL="0" indent="0">
              <a:buNone/>
            </a:pPr>
            <a:r>
              <a:rPr lang="en-US" sz="4400" b="1" dirty="0">
                <a:solidFill>
                  <a:schemeClr val="accent5"/>
                </a:solidFill>
              </a:rPr>
              <a:t>0.860</a:t>
            </a:r>
            <a:endParaRPr lang="en-US" sz="4400" dirty="0"/>
          </a:p>
        </p:txBody>
      </p:sp>
      <p:sp>
        <p:nvSpPr>
          <p:cNvPr id="5" name="text7"/>
          <p:cNvSpPr txBox="1"/>
          <p:nvPr/>
        </p:nvSpPr>
        <p:spPr>
          <a:xfrm>
            <a:off x="777240" y="2468880"/>
            <a:ext cx="3108960" cy="777240"/>
          </a:xfrm>
          <a:prstGeom prst="rect">
            <a:avLst/>
          </a:prstGeom>
          <a:noFill/>
          <a:ln/>
        </p:spPr>
        <p:txBody>
          <a:bodyPr wrap="square" lIns="0" tIns="0" rIns="0" bIns="0" rtlCol="0" anchor="t"/>
          <a:lstStyle/>
          <a:p>
            <a:pPr marL="0" indent="0">
              <a:buNone/>
            </a:pPr>
            <a:r>
              <a:rPr lang="en-US" sz="1400" dirty="0">
                <a:solidFill>
                  <a:schemeClr val="bg1"/>
                </a:solidFill>
              </a:rPr>
              <a:t>AUC on later-dated held-out loans at training</a:t>
            </a:r>
            <a:endParaRPr lang="en-US" sz="1400" dirty="0"/>
          </a:p>
        </p:txBody>
      </p:sp>
      <p:sp>
        <p:nvSpPr>
          <p:cNvPr id="6" name="card8"/>
          <p:cNvSpPr/>
          <p:nvPr/>
        </p:nvSpPr>
        <p:spPr>
          <a:xfrm>
            <a:off x="4297680" y="1463040"/>
            <a:ext cx="3566160" cy="1920240"/>
          </a:xfrm>
          <a:prstGeom prst="roundRect">
            <a:avLst>
              <a:gd name="adj" fmla="val 4762"/>
            </a:avLst>
          </a:prstGeom>
          <a:solidFill>
            <a:schemeClr val="tx2"/>
          </a:solidFill>
          <a:ln/>
        </p:spPr>
        <p:txBody>
          <a:bodyPr/>
          <a:lstStyle/>
          <a:p>
            <a:endParaRPr lang="en-SG"/>
          </a:p>
        </p:txBody>
      </p:sp>
      <p:sp>
        <p:nvSpPr>
          <p:cNvPr id="7" name="text9"/>
          <p:cNvSpPr txBox="1"/>
          <p:nvPr/>
        </p:nvSpPr>
        <p:spPr>
          <a:xfrm>
            <a:off x="4526280" y="1600200"/>
            <a:ext cx="3108960" cy="822960"/>
          </a:xfrm>
          <a:prstGeom prst="rect">
            <a:avLst/>
          </a:prstGeom>
          <a:noFill/>
          <a:ln/>
        </p:spPr>
        <p:txBody>
          <a:bodyPr wrap="square" lIns="0" tIns="0" rIns="0" bIns="0" rtlCol="0" anchor="ctr"/>
          <a:lstStyle/>
          <a:p>
            <a:pPr marL="0" indent="0">
              <a:buNone/>
            </a:pPr>
            <a:r>
              <a:rPr lang="en-US" sz="4400" b="1" dirty="0">
                <a:solidFill>
                  <a:schemeClr val="accent5"/>
                </a:solidFill>
              </a:rPr>
              <a:t>0.79–0.81</a:t>
            </a:r>
            <a:endParaRPr lang="en-US" sz="4400" dirty="0"/>
          </a:p>
        </p:txBody>
      </p:sp>
      <p:sp>
        <p:nvSpPr>
          <p:cNvPr id="8" name="text10"/>
          <p:cNvSpPr txBox="1"/>
          <p:nvPr/>
        </p:nvSpPr>
        <p:spPr>
          <a:xfrm>
            <a:off x="4526280" y="2468880"/>
            <a:ext cx="3108960" cy="777240"/>
          </a:xfrm>
          <a:prstGeom prst="rect">
            <a:avLst/>
          </a:prstGeom>
          <a:noFill/>
          <a:ln/>
        </p:spPr>
        <p:txBody>
          <a:bodyPr wrap="square" lIns="0" tIns="0" rIns="0" bIns="0" rtlCol="0" anchor="t"/>
          <a:lstStyle/>
          <a:p>
            <a:pPr marL="0" indent="0">
              <a:buNone/>
            </a:pPr>
            <a:r>
              <a:rPr lang="en-US" sz="1400" dirty="0">
                <a:solidFill>
                  <a:schemeClr val="bg1"/>
                </a:solidFill>
              </a:rPr>
              <a:t>AUC on four unseen cohorts, scored without clickstream inputs</a:t>
            </a:r>
            <a:endParaRPr lang="en-US" sz="1400" dirty="0"/>
          </a:p>
        </p:txBody>
      </p:sp>
      <p:sp>
        <p:nvSpPr>
          <p:cNvPr id="9" name="card11"/>
          <p:cNvSpPr/>
          <p:nvPr/>
        </p:nvSpPr>
        <p:spPr>
          <a:xfrm>
            <a:off x="8046720" y="1463040"/>
            <a:ext cx="3566160" cy="1920240"/>
          </a:xfrm>
          <a:prstGeom prst="roundRect">
            <a:avLst>
              <a:gd name="adj" fmla="val 4762"/>
            </a:avLst>
          </a:prstGeom>
          <a:solidFill>
            <a:schemeClr val="tx2"/>
          </a:solidFill>
          <a:ln/>
        </p:spPr>
        <p:txBody>
          <a:bodyPr/>
          <a:lstStyle/>
          <a:p>
            <a:endParaRPr lang="en-SG"/>
          </a:p>
        </p:txBody>
      </p:sp>
      <p:sp>
        <p:nvSpPr>
          <p:cNvPr id="10" name="text12"/>
          <p:cNvSpPr txBox="1"/>
          <p:nvPr/>
        </p:nvSpPr>
        <p:spPr>
          <a:xfrm>
            <a:off x="8275320" y="1600200"/>
            <a:ext cx="3108960" cy="822960"/>
          </a:xfrm>
          <a:prstGeom prst="rect">
            <a:avLst/>
          </a:prstGeom>
          <a:noFill/>
          <a:ln/>
        </p:spPr>
        <p:txBody>
          <a:bodyPr wrap="square" lIns="0" tIns="0" rIns="0" bIns="0" rtlCol="0" anchor="ctr"/>
          <a:lstStyle/>
          <a:p>
            <a:pPr marL="0" indent="0">
              <a:buNone/>
            </a:pPr>
            <a:r>
              <a:rPr lang="en-US" sz="4400" b="1" dirty="0">
                <a:solidFill>
                  <a:schemeClr val="accent5"/>
                </a:solidFill>
              </a:rPr>
              <a:t>22 of 47</a:t>
            </a:r>
            <a:endParaRPr lang="en-US" sz="4400" dirty="0"/>
          </a:p>
        </p:txBody>
      </p:sp>
      <p:sp>
        <p:nvSpPr>
          <p:cNvPr id="11" name="text13"/>
          <p:cNvSpPr txBox="1"/>
          <p:nvPr/>
        </p:nvSpPr>
        <p:spPr>
          <a:xfrm>
            <a:off x="8275320" y="2468880"/>
            <a:ext cx="3108960" cy="777240"/>
          </a:xfrm>
          <a:prstGeom prst="rect">
            <a:avLst/>
          </a:prstGeom>
          <a:noFill/>
          <a:ln/>
        </p:spPr>
        <p:txBody>
          <a:bodyPr wrap="square" lIns="0" tIns="0" rIns="0" bIns="0" rtlCol="0" anchor="t"/>
          <a:lstStyle/>
          <a:p>
            <a:pPr marL="0" indent="0">
              <a:buNone/>
            </a:pPr>
            <a:r>
              <a:rPr lang="en-US" sz="1400" dirty="0">
                <a:solidFill>
                  <a:schemeClr val="bg1"/>
                </a:solidFill>
              </a:rPr>
              <a:t>Numeric features arrive empty for Sep–Dec 2024 loans (clickstream customers missing)</a:t>
            </a:r>
            <a:endParaRPr lang="en-US" sz="1400" dirty="0"/>
          </a:p>
        </p:txBody>
      </p:sp>
      <p:sp>
        <p:nvSpPr>
          <p:cNvPr id="12" name="card14"/>
          <p:cNvSpPr/>
          <p:nvPr/>
        </p:nvSpPr>
        <p:spPr>
          <a:xfrm>
            <a:off x="548640" y="3611880"/>
            <a:ext cx="3566160" cy="2651760"/>
          </a:xfrm>
          <a:prstGeom prst="roundRect">
            <a:avLst>
              <a:gd name="adj" fmla="val 3448"/>
            </a:avLst>
          </a:prstGeom>
          <a:solidFill>
            <a:schemeClr val="bg2"/>
          </a:solidFill>
          <a:ln/>
        </p:spPr>
        <p:txBody>
          <a:bodyPr/>
          <a:lstStyle/>
          <a:p>
            <a:endParaRPr lang="en-SG"/>
          </a:p>
        </p:txBody>
      </p:sp>
      <p:sp>
        <p:nvSpPr>
          <p:cNvPr id="13" name="text15"/>
          <p:cNvSpPr txBox="1"/>
          <p:nvPr/>
        </p:nvSpPr>
        <p:spPr>
          <a:xfrm>
            <a:off x="777240" y="3794760"/>
            <a:ext cx="3108960" cy="233172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The question</a:t>
            </a:r>
            <a:endParaRPr lang="en-US" sz="1600" dirty="0"/>
          </a:p>
          <a:p>
            <a:pPr marL="0" indent="0">
              <a:buNone/>
            </a:pPr>
            <a:r>
              <a:rPr lang="en-US" sz="1600" dirty="0">
                <a:solidFill>
                  <a:schemeClr val="tx1"/>
                </a:solidFill>
              </a:rPr>
              <a:t>Will a new loan be 30+ days past due six months after it starts? An early answer lets credit teams price, limit or review risky loans.</a:t>
            </a:r>
            <a:endParaRPr lang="en-US" sz="1600" dirty="0"/>
          </a:p>
        </p:txBody>
      </p:sp>
      <p:sp>
        <p:nvSpPr>
          <p:cNvPr id="14" name="card16"/>
          <p:cNvSpPr/>
          <p:nvPr/>
        </p:nvSpPr>
        <p:spPr>
          <a:xfrm>
            <a:off x="4297680" y="3611880"/>
            <a:ext cx="3566160" cy="2651760"/>
          </a:xfrm>
          <a:prstGeom prst="roundRect">
            <a:avLst>
              <a:gd name="adj" fmla="val 3448"/>
            </a:avLst>
          </a:prstGeom>
          <a:solidFill>
            <a:schemeClr val="bg2"/>
          </a:solidFill>
          <a:ln/>
        </p:spPr>
        <p:txBody>
          <a:bodyPr/>
          <a:lstStyle/>
          <a:p>
            <a:endParaRPr lang="en-SG"/>
          </a:p>
        </p:txBody>
      </p:sp>
      <p:sp>
        <p:nvSpPr>
          <p:cNvPr id="15" name="text17"/>
          <p:cNvSpPr txBox="1"/>
          <p:nvPr/>
        </p:nvSpPr>
        <p:spPr>
          <a:xfrm>
            <a:off x="4526280" y="3794760"/>
            <a:ext cx="3108960" cy="233172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What we built</a:t>
            </a:r>
            <a:endParaRPr lang="en-US" sz="1600" dirty="0"/>
          </a:p>
          <a:p>
            <a:pPr marL="0" indent="0">
              <a:buNone/>
            </a:pPr>
            <a:r>
              <a:rPr lang="en-US" sz="1600" dirty="0">
                <a:solidFill>
                  <a:schemeClr val="tx1"/>
                </a:solidFill>
              </a:rPr>
              <a:t>A bronze, silver, gold datamart, an XGBoost model bank, monthly scoring, and drift and performance monitoring, all scheduled in Airflow.</a:t>
            </a:r>
            <a:endParaRPr lang="en-US" sz="1600" dirty="0"/>
          </a:p>
        </p:txBody>
      </p:sp>
      <p:sp>
        <p:nvSpPr>
          <p:cNvPr id="16" name="card18"/>
          <p:cNvSpPr/>
          <p:nvPr/>
        </p:nvSpPr>
        <p:spPr>
          <a:xfrm>
            <a:off x="8046720" y="3611880"/>
            <a:ext cx="3566160" cy="2651760"/>
          </a:xfrm>
          <a:prstGeom prst="roundRect">
            <a:avLst>
              <a:gd name="adj" fmla="val 3448"/>
            </a:avLst>
          </a:prstGeom>
          <a:solidFill>
            <a:schemeClr val="bg2"/>
          </a:solidFill>
          <a:ln/>
        </p:spPr>
        <p:txBody>
          <a:bodyPr/>
          <a:lstStyle/>
          <a:p>
            <a:endParaRPr lang="en-SG"/>
          </a:p>
        </p:txBody>
      </p:sp>
      <p:sp>
        <p:nvSpPr>
          <p:cNvPr id="17" name="text19"/>
          <p:cNvSpPr txBox="1"/>
          <p:nvPr/>
        </p:nvSpPr>
        <p:spPr>
          <a:xfrm>
            <a:off x="8275320" y="3794760"/>
            <a:ext cx="3108960" cy="233172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What needs attention</a:t>
            </a:r>
            <a:endParaRPr lang="en-US" sz="1600" dirty="0"/>
          </a:p>
          <a:p>
            <a:pPr marL="0" indent="0">
              <a:buNone/>
            </a:pPr>
            <a:r>
              <a:rPr lang="en-US" sz="1600" dirty="0">
                <a:solidFill>
                  <a:schemeClr val="tx1"/>
                </a:solidFill>
              </a:rPr>
              <a:t>Clickstream features are empty for loans from Jul 2024 (no matching customers). This drives the score PSI of about 4 and may explain part of the AUC gap.</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Data flows through bronze, silver and gold, then through train, score and monitor stages</a:t>
            </a:r>
            <a:endParaRPr lang="en-US" sz="2800" dirty="0"/>
          </a:p>
        </p:txBody>
      </p:sp>
      <p:sp>
        <p:nvSpPr>
          <p:cNvPr id="101" name="bronze_layer"/>
          <p:cNvSpPr/>
          <p:nvPr/>
        </p:nvSpPr>
        <p:spPr>
          <a:xfrm>
            <a:off x="2697480" y="1298448"/>
            <a:ext cx="1188720" cy="2980944"/>
          </a:xfrm>
          <a:prstGeom prst="roundRect">
            <a:avLst>
              <a:gd name="adj" fmla="val 4000"/>
            </a:avLst>
          </a:prstGeom>
          <a:noFill/>
          <a:ln w="19050">
            <a:solidFill>
              <a:schemeClr val="accent3"/>
            </a:solidFill>
          </a:ln>
        </p:spPr>
        <p:txBody>
          <a:bodyPr/>
          <a:lstStyle/>
          <a:p>
            <a:endParaRPr lang="en-SG"/>
          </a:p>
        </p:txBody>
      </p:sp>
      <p:sp>
        <p:nvSpPr>
          <p:cNvPr id="102" name="silver_layer"/>
          <p:cNvSpPr/>
          <p:nvPr/>
        </p:nvSpPr>
        <p:spPr>
          <a:xfrm>
            <a:off x="5532120" y="1298448"/>
            <a:ext cx="1188720" cy="2980944"/>
          </a:xfrm>
          <a:prstGeom prst="roundRect">
            <a:avLst>
              <a:gd name="adj" fmla="val 4000"/>
            </a:avLst>
          </a:prstGeom>
          <a:noFill/>
          <a:ln w="19050">
            <a:solidFill>
              <a:schemeClr val="accent4"/>
            </a:solidFill>
          </a:ln>
        </p:spPr>
        <p:txBody>
          <a:bodyPr/>
          <a:lstStyle/>
          <a:p>
            <a:endParaRPr lang="en-SG"/>
          </a:p>
        </p:txBody>
      </p:sp>
      <p:sp>
        <p:nvSpPr>
          <p:cNvPr id="103" name="data_head"/>
          <p:cNvSpPr txBox="1"/>
          <p:nvPr/>
        </p:nvSpPr>
        <p:spPr>
          <a:xfrm>
            <a:off x="548640" y="1325880"/>
            <a:ext cx="1645920" cy="228600"/>
          </a:xfrm>
          <a:prstGeom prst="rect">
            <a:avLst/>
          </a:prstGeom>
          <a:noFill/>
          <a:ln>
            <a:noFill/>
          </a:ln>
        </p:spPr>
        <p:txBody>
          <a:bodyPr wrap="square" lIns="0" tIns="0" rIns="0" bIns="0" rtlCol="0" anchor="t"/>
          <a:lstStyle/>
          <a:p>
            <a:pPr marL="0" indent="0" algn="l">
              <a:buNone/>
            </a:pPr>
            <a:r>
              <a:rPr lang="en-US" sz="1200" b="1" dirty="0">
                <a:solidFill>
                  <a:schemeClr val="tx1"/>
                </a:solidFill>
              </a:rPr>
              <a:t>RAW</a:t>
            </a:r>
          </a:p>
        </p:txBody>
      </p:sp>
      <p:sp>
        <p:nvSpPr>
          <p:cNvPr id="104" name="bronze_head"/>
          <p:cNvSpPr txBox="1"/>
          <p:nvPr/>
        </p:nvSpPr>
        <p:spPr>
          <a:xfrm>
            <a:off x="2743200" y="1335024"/>
            <a:ext cx="1097280" cy="228600"/>
          </a:xfrm>
          <a:prstGeom prst="rect">
            <a:avLst/>
          </a:prstGeom>
          <a:noFill/>
          <a:ln>
            <a:noFill/>
          </a:ln>
        </p:spPr>
        <p:txBody>
          <a:bodyPr wrap="square" lIns="0" tIns="0" rIns="0" bIns="0" rtlCol="0" anchor="t"/>
          <a:lstStyle/>
          <a:p>
            <a:pPr marL="0" indent="0" algn="ctr">
              <a:buNone/>
            </a:pPr>
            <a:r>
              <a:rPr lang="en-US" sz="1200" b="1" dirty="0">
                <a:solidFill>
                  <a:schemeClr val="accent3"/>
                </a:solidFill>
              </a:rPr>
              <a:t>BRONZE</a:t>
            </a:r>
          </a:p>
        </p:txBody>
      </p:sp>
      <p:sp>
        <p:nvSpPr>
          <p:cNvPr id="105" name="silver_head"/>
          <p:cNvSpPr txBox="1"/>
          <p:nvPr/>
        </p:nvSpPr>
        <p:spPr>
          <a:xfrm>
            <a:off x="5577840" y="1335024"/>
            <a:ext cx="1097280" cy="228600"/>
          </a:xfrm>
          <a:prstGeom prst="rect">
            <a:avLst/>
          </a:prstGeom>
          <a:noFill/>
          <a:ln>
            <a:noFill/>
          </a:ln>
        </p:spPr>
        <p:txBody>
          <a:bodyPr wrap="square" lIns="0" tIns="0" rIns="0" bIns="0" rtlCol="0" anchor="t"/>
          <a:lstStyle/>
          <a:p>
            <a:pPr marL="0" indent="0" algn="ctr">
              <a:buNone/>
            </a:pPr>
            <a:r>
              <a:rPr lang="en-US" sz="1200" b="1" dirty="0">
                <a:solidFill>
                  <a:srgbClr val="7B8794"/>
                </a:solidFill>
              </a:rPr>
              <a:t>SILVER</a:t>
            </a:r>
          </a:p>
        </p:txBody>
      </p:sp>
      <p:sp>
        <p:nvSpPr>
          <p:cNvPr id="106" name="bronze_cap"/>
          <p:cNvSpPr txBox="1"/>
          <p:nvPr/>
        </p:nvSpPr>
        <p:spPr>
          <a:xfrm>
            <a:off x="2743200" y="4023360"/>
            <a:ext cx="1097280" cy="201168"/>
          </a:xfrm>
          <a:prstGeom prst="rect">
            <a:avLst/>
          </a:prstGeom>
          <a:noFill/>
          <a:ln>
            <a:noFill/>
          </a:ln>
        </p:spPr>
        <p:txBody>
          <a:bodyPr wrap="square" lIns="0" tIns="0" rIns="0" bIns="0" rtlCol="0" anchor="t"/>
          <a:lstStyle/>
          <a:p>
            <a:pPr marL="0" indent="0" algn="ctr">
              <a:buNone/>
            </a:pPr>
            <a:r>
              <a:rPr lang="en-US" sz="1100" i="1" dirty="0">
                <a:solidFill>
                  <a:schemeClr val="tx1"/>
                </a:solidFill>
              </a:rPr>
              <a:t>as-is, per snapshot</a:t>
            </a:r>
          </a:p>
        </p:txBody>
      </p:sp>
      <p:sp>
        <p:nvSpPr>
          <p:cNvPr id="107" name="silver_cap"/>
          <p:cNvSpPr txBox="1"/>
          <p:nvPr/>
        </p:nvSpPr>
        <p:spPr>
          <a:xfrm>
            <a:off x="5577840" y="4023360"/>
            <a:ext cx="1097280" cy="201168"/>
          </a:xfrm>
          <a:prstGeom prst="rect">
            <a:avLst/>
          </a:prstGeom>
          <a:noFill/>
          <a:ln>
            <a:noFill/>
          </a:ln>
        </p:spPr>
        <p:txBody>
          <a:bodyPr wrap="square" lIns="0" tIns="0" rIns="0" bIns="0" rtlCol="0" anchor="t"/>
          <a:lstStyle/>
          <a:p>
            <a:pPr marL="0" indent="0" algn="ctr">
              <a:buNone/>
            </a:pPr>
            <a:r>
              <a:rPr lang="en-US" sz="1100" i="1" dirty="0">
                <a:solidFill>
                  <a:schemeClr val="tx1"/>
                </a:solidFill>
              </a:rPr>
              <a:t>typed, validated</a:t>
            </a:r>
          </a:p>
        </p:txBody>
      </p:sp>
      <p:sp>
        <p:nvSpPr>
          <p:cNvPr id="108" name="raw_label_0"/>
          <p:cNvSpPr txBox="1"/>
          <p:nvPr/>
        </p:nvSpPr>
        <p:spPr>
          <a:xfrm>
            <a:off x="548640" y="1563624"/>
            <a:ext cx="1828800" cy="201168"/>
          </a:xfrm>
          <a:prstGeom prst="rect">
            <a:avLst/>
          </a:prstGeom>
          <a:noFill/>
          <a:ln>
            <a:noFill/>
          </a:ln>
        </p:spPr>
        <p:txBody>
          <a:bodyPr wrap="square" lIns="0" tIns="0" rIns="0" bIns="0" rtlCol="0" anchor="b"/>
          <a:lstStyle/>
          <a:p>
            <a:pPr marL="0" indent="0" algn="l">
              <a:buNone/>
            </a:pPr>
            <a:r>
              <a:rPr lang="en-US" sz="1200" dirty="0">
                <a:solidFill>
                  <a:schemeClr val="tx1"/>
                </a:solidFill>
              </a:rPr>
              <a:t>lms_loan_daily</a:t>
            </a:r>
          </a:p>
        </p:txBody>
      </p:sp>
      <p:sp>
        <p:nvSpPr>
          <p:cNvPr id="109" name="bronze_label_0"/>
          <p:cNvSpPr txBox="1"/>
          <p:nvPr/>
        </p:nvSpPr>
        <p:spPr>
          <a:xfrm>
            <a:off x="2743200" y="1563624"/>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lms</a:t>
            </a:r>
          </a:p>
        </p:txBody>
      </p:sp>
      <p:sp>
        <p:nvSpPr>
          <p:cNvPr id="110" name="silver_label_0"/>
          <p:cNvSpPr txBox="1"/>
          <p:nvPr/>
        </p:nvSpPr>
        <p:spPr>
          <a:xfrm>
            <a:off x="5577840" y="1563624"/>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loan_daily</a:t>
            </a:r>
          </a:p>
        </p:txBody>
      </p:sp>
      <p:pic>
        <p:nvPicPr>
          <p:cNvPr id="111" name="raw_icon_0" descr="Database icon: raw lms_loan_daily"/>
          <p:cNvPicPr>
            <a:picLocks noChangeAspect="1"/>
          </p:cNvPicPr>
          <p:nvPr/>
        </p:nvPicPr>
        <p:blipFill>
          <a:blip r:embed="rId3"/>
          <a:stretch>
            <a:fillRect/>
          </a:stretch>
        </p:blipFill>
        <p:spPr>
          <a:xfrm>
            <a:off x="585216" y="1773936"/>
            <a:ext cx="384048" cy="384048"/>
          </a:xfrm>
          <a:prstGeom prst="rect">
            <a:avLst/>
          </a:prstGeom>
        </p:spPr>
      </p:pic>
      <p:pic>
        <p:nvPicPr>
          <p:cNvPr id="112" name="bronze_icon_0" descr="Database icon: bronze lms"/>
          <p:cNvPicPr>
            <a:picLocks noChangeAspect="1"/>
          </p:cNvPicPr>
          <p:nvPr/>
        </p:nvPicPr>
        <p:blipFill>
          <a:blip r:embed="rId4"/>
          <a:stretch>
            <a:fillRect/>
          </a:stretch>
        </p:blipFill>
        <p:spPr>
          <a:xfrm>
            <a:off x="3099816" y="1773936"/>
            <a:ext cx="384048" cy="384048"/>
          </a:xfrm>
          <a:prstGeom prst="rect">
            <a:avLst/>
          </a:prstGeom>
        </p:spPr>
      </p:pic>
      <p:pic>
        <p:nvPicPr>
          <p:cNvPr id="113" name="silver_icon_0" descr="Database icon: silver loan_daily"/>
          <p:cNvPicPr>
            <a:picLocks noChangeAspect="1"/>
          </p:cNvPicPr>
          <p:nvPr/>
        </p:nvPicPr>
        <p:blipFill>
          <a:blip r:embed="rId5"/>
          <a:stretch>
            <a:fillRect/>
          </a:stretch>
        </p:blipFill>
        <p:spPr>
          <a:xfrm>
            <a:off x="5934456" y="1773936"/>
            <a:ext cx="384048" cy="384048"/>
          </a:xfrm>
          <a:prstGeom prst="rect">
            <a:avLst/>
          </a:prstGeom>
        </p:spPr>
      </p:pic>
      <p:sp>
        <p:nvSpPr>
          <p:cNvPr id="114" name="etl_rb_0"/>
          <p:cNvSpPr/>
          <p:nvPr/>
        </p:nvSpPr>
        <p:spPr>
          <a:xfrm>
            <a:off x="1600200" y="1828800"/>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15" name="etl_bs_0"/>
          <p:cNvSpPr/>
          <p:nvPr/>
        </p:nvSpPr>
        <p:spPr>
          <a:xfrm>
            <a:off x="4526280" y="1828800"/>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16" name="arrow_r_e_0"/>
          <p:cNvSpPr/>
          <p:nvPr/>
        </p:nvSpPr>
        <p:spPr>
          <a:xfrm>
            <a:off x="1051560" y="1965960"/>
            <a:ext cx="521208" cy="0"/>
          </a:xfrm>
          <a:prstGeom prst="line">
            <a:avLst/>
          </a:prstGeom>
          <a:noFill/>
          <a:ln w="28575">
            <a:solidFill>
              <a:schemeClr val="accent4"/>
            </a:solidFill>
            <a:tailEnd type="triangle" w="med" len="med"/>
          </a:ln>
        </p:spPr>
        <p:txBody>
          <a:bodyPr/>
          <a:lstStyle/>
          <a:p>
            <a:endParaRPr lang="en-SG"/>
          </a:p>
        </p:txBody>
      </p:sp>
      <p:sp>
        <p:nvSpPr>
          <p:cNvPr id="117" name="arrow_e_b_0"/>
          <p:cNvSpPr/>
          <p:nvPr/>
        </p:nvSpPr>
        <p:spPr>
          <a:xfrm>
            <a:off x="2157984" y="1965960"/>
            <a:ext cx="859536" cy="0"/>
          </a:xfrm>
          <a:prstGeom prst="line">
            <a:avLst/>
          </a:prstGeom>
          <a:noFill/>
          <a:ln w="28575">
            <a:solidFill>
              <a:schemeClr val="accent4"/>
            </a:solidFill>
            <a:tailEnd type="triangle" w="med" len="med"/>
          </a:ln>
        </p:spPr>
        <p:txBody>
          <a:bodyPr/>
          <a:lstStyle/>
          <a:p>
            <a:endParaRPr lang="en-SG"/>
          </a:p>
        </p:txBody>
      </p:sp>
      <p:sp>
        <p:nvSpPr>
          <p:cNvPr id="118" name="arrow_b_e_0"/>
          <p:cNvSpPr/>
          <p:nvPr/>
        </p:nvSpPr>
        <p:spPr>
          <a:xfrm>
            <a:off x="3584448" y="1965960"/>
            <a:ext cx="914400" cy="0"/>
          </a:xfrm>
          <a:prstGeom prst="line">
            <a:avLst/>
          </a:prstGeom>
          <a:noFill/>
          <a:ln w="28575">
            <a:solidFill>
              <a:schemeClr val="accent4"/>
            </a:solidFill>
            <a:tailEnd type="triangle" w="med" len="med"/>
          </a:ln>
        </p:spPr>
        <p:txBody>
          <a:bodyPr/>
          <a:lstStyle/>
          <a:p>
            <a:endParaRPr lang="en-SG"/>
          </a:p>
        </p:txBody>
      </p:sp>
      <p:sp>
        <p:nvSpPr>
          <p:cNvPr id="119" name="arrow_e_s_0"/>
          <p:cNvSpPr/>
          <p:nvPr/>
        </p:nvSpPr>
        <p:spPr>
          <a:xfrm>
            <a:off x="5084064" y="1965960"/>
            <a:ext cx="786384" cy="0"/>
          </a:xfrm>
          <a:prstGeom prst="line">
            <a:avLst/>
          </a:prstGeom>
          <a:noFill/>
          <a:ln w="28575">
            <a:solidFill>
              <a:schemeClr val="accent4"/>
            </a:solidFill>
            <a:tailEnd type="triangle" w="med" len="med"/>
          </a:ln>
        </p:spPr>
        <p:txBody>
          <a:bodyPr/>
          <a:lstStyle/>
          <a:p>
            <a:endParaRPr lang="en-SG"/>
          </a:p>
        </p:txBody>
      </p:sp>
      <p:sp>
        <p:nvSpPr>
          <p:cNvPr id="120" name="raw_label_1"/>
          <p:cNvSpPr txBox="1"/>
          <p:nvPr/>
        </p:nvSpPr>
        <p:spPr>
          <a:xfrm>
            <a:off x="548640" y="2167128"/>
            <a:ext cx="1828800" cy="201168"/>
          </a:xfrm>
          <a:prstGeom prst="rect">
            <a:avLst/>
          </a:prstGeom>
          <a:noFill/>
          <a:ln>
            <a:noFill/>
          </a:ln>
        </p:spPr>
        <p:txBody>
          <a:bodyPr wrap="square" lIns="0" tIns="0" rIns="0" bIns="0" rtlCol="0" anchor="b"/>
          <a:lstStyle/>
          <a:p>
            <a:pPr marL="0" indent="0" algn="l">
              <a:buNone/>
            </a:pPr>
            <a:r>
              <a:rPr lang="en-US" sz="1200" dirty="0">
                <a:solidFill>
                  <a:schemeClr val="tx1"/>
                </a:solidFill>
              </a:rPr>
              <a:t>feature_clickstream</a:t>
            </a:r>
          </a:p>
        </p:txBody>
      </p:sp>
      <p:sp>
        <p:nvSpPr>
          <p:cNvPr id="121" name="bronze_label_1"/>
          <p:cNvSpPr txBox="1"/>
          <p:nvPr/>
        </p:nvSpPr>
        <p:spPr>
          <a:xfrm>
            <a:off x="2743200" y="2167128"/>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clickstream</a:t>
            </a:r>
          </a:p>
        </p:txBody>
      </p:sp>
      <p:sp>
        <p:nvSpPr>
          <p:cNvPr id="122" name="silver_label_1"/>
          <p:cNvSpPr txBox="1"/>
          <p:nvPr/>
        </p:nvSpPr>
        <p:spPr>
          <a:xfrm>
            <a:off x="5577840" y="2167128"/>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clickstream</a:t>
            </a:r>
          </a:p>
        </p:txBody>
      </p:sp>
      <p:pic>
        <p:nvPicPr>
          <p:cNvPr id="123" name="raw_icon_1" descr="Database icon: raw feature_clickstream"/>
          <p:cNvPicPr>
            <a:picLocks noChangeAspect="1"/>
          </p:cNvPicPr>
          <p:nvPr/>
        </p:nvPicPr>
        <p:blipFill>
          <a:blip r:embed="rId3"/>
          <a:stretch>
            <a:fillRect/>
          </a:stretch>
        </p:blipFill>
        <p:spPr>
          <a:xfrm>
            <a:off x="585216" y="2377440"/>
            <a:ext cx="384048" cy="384048"/>
          </a:xfrm>
          <a:prstGeom prst="rect">
            <a:avLst/>
          </a:prstGeom>
        </p:spPr>
      </p:pic>
      <p:pic>
        <p:nvPicPr>
          <p:cNvPr id="124" name="bronze_icon_1" descr="Database icon: bronze clickstream"/>
          <p:cNvPicPr>
            <a:picLocks noChangeAspect="1"/>
          </p:cNvPicPr>
          <p:nvPr/>
        </p:nvPicPr>
        <p:blipFill>
          <a:blip r:embed="rId4"/>
          <a:stretch>
            <a:fillRect/>
          </a:stretch>
        </p:blipFill>
        <p:spPr>
          <a:xfrm>
            <a:off x="3099816" y="2377440"/>
            <a:ext cx="384048" cy="384048"/>
          </a:xfrm>
          <a:prstGeom prst="rect">
            <a:avLst/>
          </a:prstGeom>
        </p:spPr>
      </p:pic>
      <p:pic>
        <p:nvPicPr>
          <p:cNvPr id="125" name="silver_icon_1" descr="Database icon: silver clickstream"/>
          <p:cNvPicPr>
            <a:picLocks noChangeAspect="1"/>
          </p:cNvPicPr>
          <p:nvPr/>
        </p:nvPicPr>
        <p:blipFill>
          <a:blip r:embed="rId5"/>
          <a:stretch>
            <a:fillRect/>
          </a:stretch>
        </p:blipFill>
        <p:spPr>
          <a:xfrm>
            <a:off x="5934456" y="2377440"/>
            <a:ext cx="384048" cy="384048"/>
          </a:xfrm>
          <a:prstGeom prst="rect">
            <a:avLst/>
          </a:prstGeom>
        </p:spPr>
      </p:pic>
      <p:sp>
        <p:nvSpPr>
          <p:cNvPr id="126" name="etl_rb_1"/>
          <p:cNvSpPr/>
          <p:nvPr/>
        </p:nvSpPr>
        <p:spPr>
          <a:xfrm>
            <a:off x="1600200" y="2432304"/>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27" name="etl_bs_1"/>
          <p:cNvSpPr/>
          <p:nvPr/>
        </p:nvSpPr>
        <p:spPr>
          <a:xfrm>
            <a:off x="4526280" y="2432304"/>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28" name="arrow_r_e_1"/>
          <p:cNvSpPr/>
          <p:nvPr/>
        </p:nvSpPr>
        <p:spPr>
          <a:xfrm>
            <a:off x="1051560" y="2569464"/>
            <a:ext cx="521208" cy="0"/>
          </a:xfrm>
          <a:prstGeom prst="line">
            <a:avLst/>
          </a:prstGeom>
          <a:noFill/>
          <a:ln w="28575">
            <a:solidFill>
              <a:schemeClr val="accent4"/>
            </a:solidFill>
            <a:tailEnd type="triangle" w="med" len="med"/>
          </a:ln>
        </p:spPr>
        <p:txBody>
          <a:bodyPr/>
          <a:lstStyle/>
          <a:p>
            <a:endParaRPr lang="en-SG"/>
          </a:p>
        </p:txBody>
      </p:sp>
      <p:sp>
        <p:nvSpPr>
          <p:cNvPr id="129" name="arrow_e_b_1"/>
          <p:cNvSpPr/>
          <p:nvPr/>
        </p:nvSpPr>
        <p:spPr>
          <a:xfrm>
            <a:off x="2157984" y="2569464"/>
            <a:ext cx="859536" cy="0"/>
          </a:xfrm>
          <a:prstGeom prst="line">
            <a:avLst/>
          </a:prstGeom>
          <a:noFill/>
          <a:ln w="28575">
            <a:solidFill>
              <a:schemeClr val="accent4"/>
            </a:solidFill>
            <a:tailEnd type="triangle" w="med" len="med"/>
          </a:ln>
        </p:spPr>
        <p:txBody>
          <a:bodyPr/>
          <a:lstStyle/>
          <a:p>
            <a:endParaRPr lang="en-SG"/>
          </a:p>
        </p:txBody>
      </p:sp>
      <p:sp>
        <p:nvSpPr>
          <p:cNvPr id="130" name="arrow_b_e_1"/>
          <p:cNvSpPr/>
          <p:nvPr/>
        </p:nvSpPr>
        <p:spPr>
          <a:xfrm>
            <a:off x="3584448" y="2569464"/>
            <a:ext cx="914400" cy="0"/>
          </a:xfrm>
          <a:prstGeom prst="line">
            <a:avLst/>
          </a:prstGeom>
          <a:noFill/>
          <a:ln w="28575">
            <a:solidFill>
              <a:schemeClr val="accent4"/>
            </a:solidFill>
            <a:tailEnd type="triangle" w="med" len="med"/>
          </a:ln>
        </p:spPr>
        <p:txBody>
          <a:bodyPr/>
          <a:lstStyle/>
          <a:p>
            <a:endParaRPr lang="en-SG"/>
          </a:p>
        </p:txBody>
      </p:sp>
      <p:sp>
        <p:nvSpPr>
          <p:cNvPr id="131" name="arrow_e_s_1"/>
          <p:cNvSpPr/>
          <p:nvPr/>
        </p:nvSpPr>
        <p:spPr>
          <a:xfrm>
            <a:off x="5084064" y="2569464"/>
            <a:ext cx="786384" cy="0"/>
          </a:xfrm>
          <a:prstGeom prst="line">
            <a:avLst/>
          </a:prstGeom>
          <a:noFill/>
          <a:ln w="28575">
            <a:solidFill>
              <a:schemeClr val="accent4"/>
            </a:solidFill>
            <a:tailEnd type="triangle" w="med" len="med"/>
          </a:ln>
        </p:spPr>
        <p:txBody>
          <a:bodyPr/>
          <a:lstStyle/>
          <a:p>
            <a:endParaRPr lang="en-SG"/>
          </a:p>
        </p:txBody>
      </p:sp>
      <p:sp>
        <p:nvSpPr>
          <p:cNvPr id="132" name="raw_label_2"/>
          <p:cNvSpPr txBox="1"/>
          <p:nvPr/>
        </p:nvSpPr>
        <p:spPr>
          <a:xfrm>
            <a:off x="548640" y="2770632"/>
            <a:ext cx="1828800" cy="201168"/>
          </a:xfrm>
          <a:prstGeom prst="rect">
            <a:avLst/>
          </a:prstGeom>
          <a:noFill/>
          <a:ln>
            <a:noFill/>
          </a:ln>
        </p:spPr>
        <p:txBody>
          <a:bodyPr wrap="square" lIns="0" tIns="0" rIns="0" bIns="0" rtlCol="0" anchor="b"/>
          <a:lstStyle/>
          <a:p>
            <a:pPr marL="0" indent="0" algn="l">
              <a:buNone/>
            </a:pPr>
            <a:r>
              <a:rPr lang="en-US" sz="1200" dirty="0">
                <a:solidFill>
                  <a:schemeClr val="tx1"/>
                </a:solidFill>
              </a:rPr>
              <a:t>features_financials</a:t>
            </a:r>
          </a:p>
        </p:txBody>
      </p:sp>
      <p:sp>
        <p:nvSpPr>
          <p:cNvPr id="133" name="bronze_label_2"/>
          <p:cNvSpPr txBox="1"/>
          <p:nvPr/>
        </p:nvSpPr>
        <p:spPr>
          <a:xfrm>
            <a:off x="2743200" y="2770632"/>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financials</a:t>
            </a:r>
          </a:p>
        </p:txBody>
      </p:sp>
      <p:sp>
        <p:nvSpPr>
          <p:cNvPr id="134" name="silver_label_2"/>
          <p:cNvSpPr txBox="1"/>
          <p:nvPr/>
        </p:nvSpPr>
        <p:spPr>
          <a:xfrm>
            <a:off x="5577840" y="2770632"/>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financials</a:t>
            </a:r>
          </a:p>
        </p:txBody>
      </p:sp>
      <p:pic>
        <p:nvPicPr>
          <p:cNvPr id="135" name="raw_icon_2" descr="Database icon: raw features_financials"/>
          <p:cNvPicPr>
            <a:picLocks noChangeAspect="1"/>
          </p:cNvPicPr>
          <p:nvPr/>
        </p:nvPicPr>
        <p:blipFill>
          <a:blip r:embed="rId3"/>
          <a:stretch>
            <a:fillRect/>
          </a:stretch>
        </p:blipFill>
        <p:spPr>
          <a:xfrm>
            <a:off x="585216" y="2980944"/>
            <a:ext cx="384048" cy="384048"/>
          </a:xfrm>
          <a:prstGeom prst="rect">
            <a:avLst/>
          </a:prstGeom>
        </p:spPr>
      </p:pic>
      <p:pic>
        <p:nvPicPr>
          <p:cNvPr id="136" name="bronze_icon_2" descr="Database icon: bronze financials"/>
          <p:cNvPicPr>
            <a:picLocks noChangeAspect="1"/>
          </p:cNvPicPr>
          <p:nvPr/>
        </p:nvPicPr>
        <p:blipFill>
          <a:blip r:embed="rId4"/>
          <a:stretch>
            <a:fillRect/>
          </a:stretch>
        </p:blipFill>
        <p:spPr>
          <a:xfrm>
            <a:off x="3099816" y="2980944"/>
            <a:ext cx="384048" cy="384048"/>
          </a:xfrm>
          <a:prstGeom prst="rect">
            <a:avLst/>
          </a:prstGeom>
        </p:spPr>
      </p:pic>
      <p:pic>
        <p:nvPicPr>
          <p:cNvPr id="137" name="silver_icon_2" descr="Database icon: silver financials"/>
          <p:cNvPicPr>
            <a:picLocks noChangeAspect="1"/>
          </p:cNvPicPr>
          <p:nvPr/>
        </p:nvPicPr>
        <p:blipFill>
          <a:blip r:embed="rId5"/>
          <a:stretch>
            <a:fillRect/>
          </a:stretch>
        </p:blipFill>
        <p:spPr>
          <a:xfrm>
            <a:off x="5934456" y="2980944"/>
            <a:ext cx="384048" cy="384048"/>
          </a:xfrm>
          <a:prstGeom prst="rect">
            <a:avLst/>
          </a:prstGeom>
        </p:spPr>
      </p:pic>
      <p:sp>
        <p:nvSpPr>
          <p:cNvPr id="138" name="etl_rb_2"/>
          <p:cNvSpPr/>
          <p:nvPr/>
        </p:nvSpPr>
        <p:spPr>
          <a:xfrm>
            <a:off x="1600200" y="3035808"/>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39" name="etl_bs_2"/>
          <p:cNvSpPr/>
          <p:nvPr/>
        </p:nvSpPr>
        <p:spPr>
          <a:xfrm>
            <a:off x="4526280" y="3035808"/>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40" name="arrow_r_e_2"/>
          <p:cNvSpPr/>
          <p:nvPr/>
        </p:nvSpPr>
        <p:spPr>
          <a:xfrm>
            <a:off x="1051560" y="3172968"/>
            <a:ext cx="521208" cy="0"/>
          </a:xfrm>
          <a:prstGeom prst="line">
            <a:avLst/>
          </a:prstGeom>
          <a:noFill/>
          <a:ln w="28575">
            <a:solidFill>
              <a:schemeClr val="accent4"/>
            </a:solidFill>
            <a:tailEnd type="triangle" w="med" len="med"/>
          </a:ln>
        </p:spPr>
        <p:txBody>
          <a:bodyPr/>
          <a:lstStyle/>
          <a:p>
            <a:endParaRPr lang="en-SG"/>
          </a:p>
        </p:txBody>
      </p:sp>
      <p:sp>
        <p:nvSpPr>
          <p:cNvPr id="141" name="arrow_e_b_2"/>
          <p:cNvSpPr/>
          <p:nvPr/>
        </p:nvSpPr>
        <p:spPr>
          <a:xfrm>
            <a:off x="2157984" y="3172968"/>
            <a:ext cx="859536" cy="0"/>
          </a:xfrm>
          <a:prstGeom prst="line">
            <a:avLst/>
          </a:prstGeom>
          <a:noFill/>
          <a:ln w="28575">
            <a:solidFill>
              <a:schemeClr val="accent4"/>
            </a:solidFill>
            <a:tailEnd type="triangle" w="med" len="med"/>
          </a:ln>
        </p:spPr>
        <p:txBody>
          <a:bodyPr/>
          <a:lstStyle/>
          <a:p>
            <a:endParaRPr lang="en-SG"/>
          </a:p>
        </p:txBody>
      </p:sp>
      <p:sp>
        <p:nvSpPr>
          <p:cNvPr id="142" name="arrow_b_e_2"/>
          <p:cNvSpPr/>
          <p:nvPr/>
        </p:nvSpPr>
        <p:spPr>
          <a:xfrm>
            <a:off x="3584448" y="3172968"/>
            <a:ext cx="914400" cy="0"/>
          </a:xfrm>
          <a:prstGeom prst="line">
            <a:avLst/>
          </a:prstGeom>
          <a:noFill/>
          <a:ln w="28575">
            <a:solidFill>
              <a:schemeClr val="accent4"/>
            </a:solidFill>
            <a:tailEnd type="triangle" w="med" len="med"/>
          </a:ln>
        </p:spPr>
        <p:txBody>
          <a:bodyPr/>
          <a:lstStyle/>
          <a:p>
            <a:endParaRPr lang="en-SG"/>
          </a:p>
        </p:txBody>
      </p:sp>
      <p:sp>
        <p:nvSpPr>
          <p:cNvPr id="143" name="arrow_e_s_2"/>
          <p:cNvSpPr/>
          <p:nvPr/>
        </p:nvSpPr>
        <p:spPr>
          <a:xfrm>
            <a:off x="5084064" y="3172968"/>
            <a:ext cx="786384" cy="0"/>
          </a:xfrm>
          <a:prstGeom prst="line">
            <a:avLst/>
          </a:prstGeom>
          <a:noFill/>
          <a:ln w="28575">
            <a:solidFill>
              <a:schemeClr val="accent4"/>
            </a:solidFill>
            <a:tailEnd type="triangle" w="med" len="med"/>
          </a:ln>
        </p:spPr>
        <p:txBody>
          <a:bodyPr/>
          <a:lstStyle/>
          <a:p>
            <a:endParaRPr lang="en-SG"/>
          </a:p>
        </p:txBody>
      </p:sp>
      <p:sp>
        <p:nvSpPr>
          <p:cNvPr id="144" name="raw_label_3"/>
          <p:cNvSpPr txBox="1"/>
          <p:nvPr/>
        </p:nvSpPr>
        <p:spPr>
          <a:xfrm>
            <a:off x="548640" y="3374136"/>
            <a:ext cx="1828800" cy="201168"/>
          </a:xfrm>
          <a:prstGeom prst="rect">
            <a:avLst/>
          </a:prstGeom>
          <a:noFill/>
          <a:ln>
            <a:noFill/>
          </a:ln>
        </p:spPr>
        <p:txBody>
          <a:bodyPr wrap="square" lIns="0" tIns="0" rIns="0" bIns="0" rtlCol="0" anchor="b"/>
          <a:lstStyle/>
          <a:p>
            <a:pPr marL="0" indent="0" algn="l">
              <a:buNone/>
            </a:pPr>
            <a:r>
              <a:rPr lang="en-US" sz="1200" dirty="0">
                <a:solidFill>
                  <a:schemeClr val="tx1"/>
                </a:solidFill>
              </a:rPr>
              <a:t>features_attributes</a:t>
            </a:r>
          </a:p>
        </p:txBody>
      </p:sp>
      <p:sp>
        <p:nvSpPr>
          <p:cNvPr id="145" name="bronze_label_3"/>
          <p:cNvSpPr txBox="1"/>
          <p:nvPr/>
        </p:nvSpPr>
        <p:spPr>
          <a:xfrm>
            <a:off x="2743200" y="3374136"/>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attributes</a:t>
            </a:r>
          </a:p>
        </p:txBody>
      </p:sp>
      <p:sp>
        <p:nvSpPr>
          <p:cNvPr id="146" name="silver_label_3"/>
          <p:cNvSpPr txBox="1"/>
          <p:nvPr/>
        </p:nvSpPr>
        <p:spPr>
          <a:xfrm>
            <a:off x="5577840" y="3374136"/>
            <a:ext cx="1097280" cy="201168"/>
          </a:xfrm>
          <a:prstGeom prst="rect">
            <a:avLst/>
          </a:prstGeom>
          <a:noFill/>
          <a:ln>
            <a:noFill/>
          </a:ln>
        </p:spPr>
        <p:txBody>
          <a:bodyPr wrap="square" lIns="0" tIns="0" rIns="0" bIns="0" rtlCol="0" anchor="b"/>
          <a:lstStyle/>
          <a:p>
            <a:pPr marL="0" indent="0" algn="ctr">
              <a:buNone/>
            </a:pPr>
            <a:r>
              <a:rPr lang="en-US" sz="1200" dirty="0">
                <a:solidFill>
                  <a:schemeClr val="tx1"/>
                </a:solidFill>
              </a:rPr>
              <a:t>attributes</a:t>
            </a:r>
          </a:p>
        </p:txBody>
      </p:sp>
      <p:pic>
        <p:nvPicPr>
          <p:cNvPr id="147" name="raw_icon_3" descr="Database icon: raw features_attributes"/>
          <p:cNvPicPr>
            <a:picLocks noChangeAspect="1"/>
          </p:cNvPicPr>
          <p:nvPr/>
        </p:nvPicPr>
        <p:blipFill>
          <a:blip r:embed="rId3"/>
          <a:stretch>
            <a:fillRect/>
          </a:stretch>
        </p:blipFill>
        <p:spPr>
          <a:xfrm>
            <a:off x="585216" y="3584448"/>
            <a:ext cx="384048" cy="384048"/>
          </a:xfrm>
          <a:prstGeom prst="rect">
            <a:avLst/>
          </a:prstGeom>
        </p:spPr>
      </p:pic>
      <p:pic>
        <p:nvPicPr>
          <p:cNvPr id="148" name="bronze_icon_3" descr="Database icon: bronze attributes"/>
          <p:cNvPicPr>
            <a:picLocks noChangeAspect="1"/>
          </p:cNvPicPr>
          <p:nvPr/>
        </p:nvPicPr>
        <p:blipFill>
          <a:blip r:embed="rId4"/>
          <a:stretch>
            <a:fillRect/>
          </a:stretch>
        </p:blipFill>
        <p:spPr>
          <a:xfrm>
            <a:off x="3099816" y="3584448"/>
            <a:ext cx="384048" cy="384048"/>
          </a:xfrm>
          <a:prstGeom prst="rect">
            <a:avLst/>
          </a:prstGeom>
        </p:spPr>
      </p:pic>
      <p:pic>
        <p:nvPicPr>
          <p:cNvPr id="149" name="silver_icon_3" descr="Database icon: silver attributes"/>
          <p:cNvPicPr>
            <a:picLocks noChangeAspect="1"/>
          </p:cNvPicPr>
          <p:nvPr/>
        </p:nvPicPr>
        <p:blipFill>
          <a:blip r:embed="rId5"/>
          <a:stretch>
            <a:fillRect/>
          </a:stretch>
        </p:blipFill>
        <p:spPr>
          <a:xfrm>
            <a:off x="5934456" y="3584448"/>
            <a:ext cx="384048" cy="384048"/>
          </a:xfrm>
          <a:prstGeom prst="rect">
            <a:avLst/>
          </a:prstGeom>
        </p:spPr>
      </p:pic>
      <p:sp>
        <p:nvSpPr>
          <p:cNvPr id="150" name="etl_rb_3"/>
          <p:cNvSpPr/>
          <p:nvPr/>
        </p:nvSpPr>
        <p:spPr>
          <a:xfrm>
            <a:off x="1600200" y="3639312"/>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51" name="etl_bs_3"/>
          <p:cNvSpPr/>
          <p:nvPr/>
        </p:nvSpPr>
        <p:spPr>
          <a:xfrm>
            <a:off x="4526280" y="3639312"/>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52" name="arrow_r_e_3"/>
          <p:cNvSpPr/>
          <p:nvPr/>
        </p:nvSpPr>
        <p:spPr>
          <a:xfrm>
            <a:off x="1051560" y="3776472"/>
            <a:ext cx="521208" cy="0"/>
          </a:xfrm>
          <a:prstGeom prst="line">
            <a:avLst/>
          </a:prstGeom>
          <a:noFill/>
          <a:ln w="28575">
            <a:solidFill>
              <a:schemeClr val="accent4"/>
            </a:solidFill>
            <a:tailEnd type="triangle" w="med" len="med"/>
          </a:ln>
        </p:spPr>
        <p:txBody>
          <a:bodyPr/>
          <a:lstStyle/>
          <a:p>
            <a:endParaRPr lang="en-SG"/>
          </a:p>
        </p:txBody>
      </p:sp>
      <p:sp>
        <p:nvSpPr>
          <p:cNvPr id="153" name="arrow_e_b_3"/>
          <p:cNvSpPr/>
          <p:nvPr/>
        </p:nvSpPr>
        <p:spPr>
          <a:xfrm>
            <a:off x="2157984" y="3776472"/>
            <a:ext cx="859536" cy="0"/>
          </a:xfrm>
          <a:prstGeom prst="line">
            <a:avLst/>
          </a:prstGeom>
          <a:noFill/>
          <a:ln w="28575">
            <a:solidFill>
              <a:schemeClr val="accent4"/>
            </a:solidFill>
            <a:tailEnd type="triangle" w="med" len="med"/>
          </a:ln>
        </p:spPr>
        <p:txBody>
          <a:bodyPr/>
          <a:lstStyle/>
          <a:p>
            <a:endParaRPr lang="en-SG"/>
          </a:p>
        </p:txBody>
      </p:sp>
      <p:sp>
        <p:nvSpPr>
          <p:cNvPr id="154" name="arrow_b_e_3"/>
          <p:cNvSpPr/>
          <p:nvPr/>
        </p:nvSpPr>
        <p:spPr>
          <a:xfrm>
            <a:off x="3584448" y="3776472"/>
            <a:ext cx="914400" cy="0"/>
          </a:xfrm>
          <a:prstGeom prst="line">
            <a:avLst/>
          </a:prstGeom>
          <a:noFill/>
          <a:ln w="28575">
            <a:solidFill>
              <a:schemeClr val="accent4"/>
            </a:solidFill>
            <a:tailEnd type="triangle" w="med" len="med"/>
          </a:ln>
        </p:spPr>
        <p:txBody>
          <a:bodyPr/>
          <a:lstStyle/>
          <a:p>
            <a:endParaRPr lang="en-SG"/>
          </a:p>
        </p:txBody>
      </p:sp>
      <p:sp>
        <p:nvSpPr>
          <p:cNvPr id="155" name="arrow_e_s_3"/>
          <p:cNvSpPr/>
          <p:nvPr/>
        </p:nvSpPr>
        <p:spPr>
          <a:xfrm>
            <a:off x="5084064" y="3776472"/>
            <a:ext cx="786384" cy="0"/>
          </a:xfrm>
          <a:prstGeom prst="line">
            <a:avLst/>
          </a:prstGeom>
          <a:noFill/>
          <a:ln w="28575">
            <a:solidFill>
              <a:schemeClr val="accent4"/>
            </a:solidFill>
            <a:tailEnd type="triangle" w="med" len="med"/>
          </a:ln>
        </p:spPr>
        <p:txBody>
          <a:bodyPr/>
          <a:lstStyle/>
          <a:p>
            <a:endParaRPr lang="en-SG"/>
          </a:p>
        </p:txBody>
      </p:sp>
      <p:sp>
        <p:nvSpPr>
          <p:cNvPr id="156" name="etl_label"/>
          <p:cNvSpPr/>
          <p:nvPr/>
        </p:nvSpPr>
        <p:spPr>
          <a:xfrm>
            <a:off x="7269480" y="1828800"/>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57" name="etl_feature"/>
          <p:cNvSpPr/>
          <p:nvPr/>
        </p:nvSpPr>
        <p:spPr>
          <a:xfrm>
            <a:off x="7269480" y="3035808"/>
            <a:ext cx="530352" cy="274320"/>
          </a:xfrm>
          <a:prstGeom prst="roundRect">
            <a:avLst>
              <a:gd name="adj" fmla="val 15000"/>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ETL</a:t>
            </a:r>
          </a:p>
        </p:txBody>
      </p:sp>
      <p:sp>
        <p:nvSpPr>
          <p:cNvPr id="158" name="arrow_s_label"/>
          <p:cNvSpPr/>
          <p:nvPr/>
        </p:nvSpPr>
        <p:spPr>
          <a:xfrm>
            <a:off x="6400800" y="1965960"/>
            <a:ext cx="841248" cy="0"/>
          </a:xfrm>
          <a:prstGeom prst="line">
            <a:avLst/>
          </a:prstGeom>
          <a:noFill/>
          <a:ln w="28575">
            <a:solidFill>
              <a:schemeClr val="accent4"/>
            </a:solidFill>
            <a:tailEnd type="triangle" w="med" len="med"/>
          </a:ln>
        </p:spPr>
        <p:txBody>
          <a:bodyPr/>
          <a:lstStyle/>
          <a:p>
            <a:endParaRPr lang="en-SG"/>
          </a:p>
        </p:txBody>
      </p:sp>
      <p:sp>
        <p:nvSpPr>
          <p:cNvPr id="159" name="arrow_s_fin"/>
          <p:cNvSpPr/>
          <p:nvPr/>
        </p:nvSpPr>
        <p:spPr>
          <a:xfrm>
            <a:off x="6400800" y="3172968"/>
            <a:ext cx="841248" cy="0"/>
          </a:xfrm>
          <a:prstGeom prst="line">
            <a:avLst/>
          </a:prstGeom>
          <a:noFill/>
          <a:ln w="28575">
            <a:solidFill>
              <a:schemeClr val="accent4"/>
            </a:solidFill>
            <a:tailEnd type="triangle" w="med" len="med"/>
          </a:ln>
        </p:spPr>
        <p:txBody>
          <a:bodyPr/>
          <a:lstStyle/>
          <a:p>
            <a:endParaRPr lang="en-SG"/>
          </a:p>
        </p:txBody>
      </p:sp>
      <p:sp>
        <p:nvSpPr>
          <p:cNvPr id="160" name="line_s_click"/>
          <p:cNvSpPr/>
          <p:nvPr/>
        </p:nvSpPr>
        <p:spPr>
          <a:xfrm>
            <a:off x="6400800" y="2569464"/>
            <a:ext cx="1133856" cy="0"/>
          </a:xfrm>
          <a:prstGeom prst="line">
            <a:avLst/>
          </a:prstGeom>
          <a:noFill/>
          <a:ln w="28575">
            <a:solidFill>
              <a:schemeClr val="accent4"/>
            </a:solidFill>
          </a:ln>
        </p:spPr>
        <p:txBody>
          <a:bodyPr/>
          <a:lstStyle/>
          <a:p>
            <a:endParaRPr lang="en-SG"/>
          </a:p>
        </p:txBody>
      </p:sp>
      <p:sp>
        <p:nvSpPr>
          <p:cNvPr id="161" name="arrow_click_etl"/>
          <p:cNvSpPr/>
          <p:nvPr/>
        </p:nvSpPr>
        <p:spPr>
          <a:xfrm>
            <a:off x="7534656" y="2569464"/>
            <a:ext cx="0" cy="448056"/>
          </a:xfrm>
          <a:prstGeom prst="line">
            <a:avLst/>
          </a:prstGeom>
          <a:noFill/>
          <a:ln w="28575">
            <a:solidFill>
              <a:schemeClr val="accent4"/>
            </a:solidFill>
            <a:tailEnd type="triangle" w="med" len="med"/>
          </a:ln>
        </p:spPr>
        <p:txBody>
          <a:bodyPr/>
          <a:lstStyle/>
          <a:p>
            <a:endParaRPr lang="en-SG"/>
          </a:p>
        </p:txBody>
      </p:sp>
      <p:sp>
        <p:nvSpPr>
          <p:cNvPr id="162" name="line_s_attr"/>
          <p:cNvSpPr/>
          <p:nvPr/>
        </p:nvSpPr>
        <p:spPr>
          <a:xfrm>
            <a:off x="6400800" y="3776472"/>
            <a:ext cx="1133856" cy="0"/>
          </a:xfrm>
          <a:prstGeom prst="line">
            <a:avLst/>
          </a:prstGeom>
          <a:noFill/>
          <a:ln w="28575">
            <a:solidFill>
              <a:schemeClr val="accent4"/>
            </a:solidFill>
          </a:ln>
        </p:spPr>
        <p:txBody>
          <a:bodyPr/>
          <a:lstStyle/>
          <a:p>
            <a:endParaRPr lang="en-SG"/>
          </a:p>
        </p:txBody>
      </p:sp>
      <p:sp>
        <p:nvSpPr>
          <p:cNvPr id="163" name="arrow_attr_etl"/>
          <p:cNvSpPr/>
          <p:nvPr/>
        </p:nvSpPr>
        <p:spPr>
          <a:xfrm flipV="1">
            <a:off x="7534656" y="3328416"/>
            <a:ext cx="0" cy="448056"/>
          </a:xfrm>
          <a:prstGeom prst="line">
            <a:avLst/>
          </a:prstGeom>
          <a:noFill/>
          <a:ln w="28575">
            <a:solidFill>
              <a:schemeClr val="accent4"/>
            </a:solidFill>
            <a:tailEnd type="triangle" w="med" len="med"/>
          </a:ln>
        </p:spPr>
        <p:txBody>
          <a:bodyPr/>
          <a:lstStyle/>
          <a:p>
            <a:endParaRPr lang="en-SG"/>
          </a:p>
        </p:txBody>
      </p:sp>
      <p:sp>
        <p:nvSpPr>
          <p:cNvPr id="164" name="arrow_label_gold"/>
          <p:cNvSpPr/>
          <p:nvPr/>
        </p:nvSpPr>
        <p:spPr>
          <a:xfrm>
            <a:off x="7827264" y="1965960"/>
            <a:ext cx="329184" cy="0"/>
          </a:xfrm>
          <a:prstGeom prst="line">
            <a:avLst/>
          </a:prstGeom>
          <a:noFill/>
          <a:ln w="28575">
            <a:solidFill>
              <a:schemeClr val="accent4"/>
            </a:solidFill>
            <a:tailEnd type="triangle" w="med" len="med"/>
          </a:ln>
        </p:spPr>
        <p:txBody>
          <a:bodyPr/>
          <a:lstStyle/>
          <a:p>
            <a:endParaRPr lang="en-SG"/>
          </a:p>
        </p:txBody>
      </p:sp>
      <p:sp>
        <p:nvSpPr>
          <p:cNvPr id="165" name="arrow_feat_gold"/>
          <p:cNvSpPr/>
          <p:nvPr/>
        </p:nvSpPr>
        <p:spPr>
          <a:xfrm>
            <a:off x="7827264" y="3172968"/>
            <a:ext cx="329184" cy="0"/>
          </a:xfrm>
          <a:prstGeom prst="line">
            <a:avLst/>
          </a:prstGeom>
          <a:noFill/>
          <a:ln w="28575">
            <a:solidFill>
              <a:schemeClr val="accent4"/>
            </a:solidFill>
            <a:tailEnd type="triangle" w="med" len="med"/>
          </a:ln>
        </p:spPr>
        <p:txBody>
          <a:bodyPr/>
          <a:lstStyle/>
          <a:p>
            <a:endParaRPr lang="en-SG"/>
          </a:p>
        </p:txBody>
      </p:sp>
      <p:sp>
        <p:nvSpPr>
          <p:cNvPr id="166" name="gold_label_store"/>
          <p:cNvSpPr/>
          <p:nvPr/>
        </p:nvSpPr>
        <p:spPr>
          <a:xfrm>
            <a:off x="8183880" y="1508760"/>
            <a:ext cx="1920240" cy="896112"/>
          </a:xfrm>
          <a:prstGeom prst="roundRect">
            <a:avLst>
              <a:gd name="adj" fmla="val 7000"/>
            </a:avLst>
          </a:prstGeom>
          <a:solidFill>
            <a:schemeClr val="bg1"/>
          </a:solidFill>
          <a:ln w="22225">
            <a:solidFill>
              <a:schemeClr val="accent5"/>
            </a:solidFill>
          </a:ln>
        </p:spPr>
        <p:txBody>
          <a:bodyPr wrap="square" lIns="109728" tIns="109728" rIns="109728" bIns="109728" rtlCol="0" anchor="ctr"/>
          <a:lstStyle/>
          <a:p>
            <a:pPr marL="0" indent="0" algn="l">
              <a:spcAft>
                <a:spcPts val="300"/>
              </a:spcAft>
              <a:buNone/>
            </a:pPr>
            <a:r>
              <a:rPr lang="en-US" sz="1200" b="1" dirty="0">
                <a:solidFill>
                  <a:srgbClr val="8A6A00"/>
                </a:solidFill>
              </a:rPr>
              <a:t>GOLD · LABEL STORE</a:t>
            </a:r>
          </a:p>
          <a:p>
            <a:pPr marL="0" indent="0" algn="l">
              <a:spcAft>
                <a:spcPts val="200"/>
              </a:spcAft>
              <a:buNone/>
            </a:pPr>
            <a:r>
              <a:rPr lang="en-US" sz="1400" dirty="0">
                <a:solidFill>
                  <a:schemeClr val="tx1"/>
                </a:solidFill>
              </a:rPr>
              <a:t>dpd ≥ 30 @ mob = 6</a:t>
            </a:r>
          </a:p>
          <a:p>
            <a:pPr marL="0" indent="0" algn="l">
              <a:buNone/>
            </a:pPr>
            <a:r>
              <a:rPr lang="en-US" sz="1100" i="1" dirty="0">
                <a:solidFill>
                  <a:schemeClr val="tx1"/>
                </a:solidFill>
              </a:rPr>
              <a:t>from loan_daily only</a:t>
            </a:r>
          </a:p>
        </p:txBody>
      </p:sp>
      <p:sp>
        <p:nvSpPr>
          <p:cNvPr id="167" name="gold_feature_store"/>
          <p:cNvSpPr/>
          <p:nvPr/>
        </p:nvSpPr>
        <p:spPr>
          <a:xfrm>
            <a:off x="8183880" y="2601468"/>
            <a:ext cx="1920240" cy="1143000"/>
          </a:xfrm>
          <a:prstGeom prst="roundRect">
            <a:avLst>
              <a:gd name="adj" fmla="val 7000"/>
            </a:avLst>
          </a:prstGeom>
          <a:solidFill>
            <a:schemeClr val="bg1"/>
          </a:solidFill>
          <a:ln w="22225">
            <a:solidFill>
              <a:schemeClr val="accent5"/>
            </a:solidFill>
          </a:ln>
        </p:spPr>
        <p:txBody>
          <a:bodyPr wrap="square" lIns="109728" tIns="109728" rIns="109728" bIns="109728" rtlCol="0" anchor="ctr"/>
          <a:lstStyle/>
          <a:p>
            <a:pPr marL="0" indent="0" algn="l">
              <a:spcAft>
                <a:spcPts val="300"/>
              </a:spcAft>
              <a:buNone/>
            </a:pPr>
            <a:r>
              <a:rPr lang="en-US" sz="1200" b="1" dirty="0">
                <a:solidFill>
                  <a:srgbClr val="8A6A00"/>
                </a:solidFill>
              </a:rPr>
              <a:t>GOLD · FEATURE STORE</a:t>
            </a:r>
          </a:p>
          <a:p>
            <a:pPr marL="0" indent="0" algn="l">
              <a:spcAft>
                <a:spcPts val="200"/>
              </a:spcAft>
              <a:buNone/>
            </a:pPr>
            <a:r>
              <a:rPr lang="en-US" sz="1400" dirty="0">
                <a:solidFill>
                  <a:schemeClr val="tx1"/>
                </a:solidFill>
              </a:rPr>
              <a:t>joined + banded</a:t>
            </a:r>
          </a:p>
          <a:p>
            <a:pPr marL="0" indent="0" algn="l">
              <a:buNone/>
            </a:pPr>
            <a:r>
              <a:rPr lang="en-US" sz="1100" i="1" dirty="0">
                <a:solidFill>
                  <a:schemeClr val="tx1"/>
                </a:solidFill>
              </a:rPr>
              <a:t>financials, attributes, clickstream</a:t>
            </a:r>
          </a:p>
        </p:txBody>
      </p:sp>
      <p:sp>
        <p:nvSpPr>
          <p:cNvPr id="168" name="arrow_label_join"/>
          <p:cNvSpPr/>
          <p:nvPr/>
        </p:nvSpPr>
        <p:spPr>
          <a:xfrm>
            <a:off x="10149840" y="1965960"/>
            <a:ext cx="292608" cy="0"/>
          </a:xfrm>
          <a:prstGeom prst="line">
            <a:avLst/>
          </a:prstGeom>
          <a:noFill/>
          <a:ln w="28575">
            <a:solidFill>
              <a:schemeClr val="accent1"/>
            </a:solidFill>
            <a:tailEnd type="triangle" w="med" len="med"/>
          </a:ln>
        </p:spPr>
        <p:txBody>
          <a:bodyPr/>
          <a:lstStyle/>
          <a:p>
            <a:endParaRPr lang="en-SG"/>
          </a:p>
        </p:txBody>
      </p:sp>
      <p:sp>
        <p:nvSpPr>
          <p:cNvPr id="169" name="arrow_feat_join"/>
          <p:cNvSpPr/>
          <p:nvPr/>
        </p:nvSpPr>
        <p:spPr>
          <a:xfrm>
            <a:off x="10149840" y="3172968"/>
            <a:ext cx="292608" cy="0"/>
          </a:xfrm>
          <a:prstGeom prst="line">
            <a:avLst/>
          </a:prstGeom>
          <a:noFill/>
          <a:ln w="28575">
            <a:solidFill>
              <a:schemeClr val="accent1"/>
            </a:solidFill>
            <a:tailEnd type="triangle" w="med" len="med"/>
          </a:ln>
        </p:spPr>
        <p:txBody>
          <a:bodyPr/>
          <a:lstStyle/>
          <a:p>
            <a:endParaRPr lang="en-SG"/>
          </a:p>
        </p:txBody>
      </p:sp>
      <p:sp>
        <p:nvSpPr>
          <p:cNvPr id="170" name="join_box"/>
          <p:cNvSpPr/>
          <p:nvPr/>
        </p:nvSpPr>
        <p:spPr>
          <a:xfrm>
            <a:off x="10469880" y="1655064"/>
            <a:ext cx="1143000" cy="1828800"/>
          </a:xfrm>
          <a:prstGeom prst="roundRect">
            <a:avLst>
              <a:gd name="adj" fmla="val 7000"/>
            </a:avLst>
          </a:prstGeom>
          <a:solidFill>
            <a:schemeClr val="bg2"/>
          </a:solidFill>
          <a:ln w="25400">
            <a:solidFill>
              <a:schemeClr val="accent1"/>
            </a:solidFill>
          </a:ln>
        </p:spPr>
        <p:txBody>
          <a:bodyPr wrap="square" lIns="45720" tIns="45720" rIns="45720" bIns="45720" rtlCol="0" anchor="ctr"/>
          <a:lstStyle/>
          <a:p>
            <a:pPr marL="0" indent="0" algn="ctr">
              <a:spcAft>
                <a:spcPts val="300"/>
              </a:spcAft>
              <a:buNone/>
            </a:pPr>
            <a:r>
              <a:rPr lang="en-US" sz="1400" b="1" dirty="0">
                <a:solidFill>
                  <a:schemeClr val="accent1"/>
                </a:solidFill>
              </a:rPr>
              <a:t>JOIN ON</a:t>
            </a:r>
          </a:p>
          <a:p>
            <a:pPr marL="0" indent="0" algn="ctr">
              <a:buNone/>
            </a:pPr>
            <a:r>
              <a:rPr lang="en-US" sz="1600" b="1" dirty="0">
                <a:solidFill>
                  <a:schemeClr val="tx2"/>
                </a:solidFill>
              </a:rPr>
              <a:t>loan_id</a:t>
            </a:r>
          </a:p>
        </p:txBody>
      </p:sp>
      <p:sp>
        <p:nvSpPr>
          <p:cNvPr id="171" name="ml_head"/>
          <p:cNvSpPr txBox="1"/>
          <p:nvPr/>
        </p:nvSpPr>
        <p:spPr>
          <a:xfrm>
            <a:off x="548640" y="4334256"/>
            <a:ext cx="2743200" cy="228600"/>
          </a:xfrm>
          <a:prstGeom prst="rect">
            <a:avLst/>
          </a:prstGeom>
          <a:noFill/>
          <a:ln>
            <a:noFill/>
          </a:ln>
        </p:spPr>
        <p:txBody>
          <a:bodyPr wrap="square" lIns="0" tIns="0" rIns="0" bIns="0" rtlCol="0" anchor="t"/>
          <a:lstStyle/>
          <a:p>
            <a:pPr marL="0" indent="0" algn="l">
              <a:buNone/>
            </a:pPr>
            <a:r>
              <a:rPr lang="en-US" sz="1200" b="1" dirty="0">
                <a:solidFill>
                  <a:schemeClr val="accent1"/>
                </a:solidFill>
              </a:rPr>
              <a:t>ML PIPELINE</a:t>
            </a:r>
          </a:p>
        </p:txBody>
      </p:sp>
      <p:sp>
        <p:nvSpPr>
          <p:cNvPr id="172" name="gold_label"/>
          <p:cNvSpPr txBox="1"/>
          <p:nvPr/>
        </p:nvSpPr>
        <p:spPr>
          <a:xfrm>
            <a:off x="548640" y="4503420"/>
            <a:ext cx="1188720" cy="219456"/>
          </a:xfrm>
          <a:prstGeom prst="rect">
            <a:avLst/>
          </a:prstGeom>
          <a:noFill/>
          <a:ln>
            <a:noFill/>
          </a:ln>
        </p:spPr>
        <p:txBody>
          <a:bodyPr wrap="square" lIns="0" tIns="0" rIns="0" bIns="0" rtlCol="0" anchor="b"/>
          <a:lstStyle/>
          <a:p>
            <a:pPr marL="0" indent="0" algn="ctr">
              <a:buNone/>
            </a:pPr>
            <a:r>
              <a:rPr lang="en-US" sz="1200" dirty="0">
                <a:solidFill>
                  <a:schemeClr val="tx1"/>
                </a:solidFill>
              </a:rPr>
              <a:t>gold stores</a:t>
            </a:r>
          </a:p>
        </p:txBody>
      </p:sp>
      <p:pic>
        <p:nvPicPr>
          <p:cNvPr id="173" name="gold_icon" descr="Database icon: gold stores"/>
          <p:cNvPicPr>
            <a:picLocks noChangeAspect="1"/>
          </p:cNvPicPr>
          <p:nvPr/>
        </p:nvPicPr>
        <p:blipFill>
          <a:blip r:embed="rId6"/>
          <a:stretch>
            <a:fillRect/>
          </a:stretch>
        </p:blipFill>
        <p:spPr>
          <a:xfrm>
            <a:off x="937260" y="4732020"/>
            <a:ext cx="411480" cy="411480"/>
          </a:xfrm>
          <a:prstGeom prst="rect">
            <a:avLst/>
          </a:prstGeom>
        </p:spPr>
      </p:pic>
      <p:sp>
        <p:nvSpPr>
          <p:cNvPr id="174" name="gold_cap"/>
          <p:cNvSpPr txBox="1"/>
          <p:nvPr/>
        </p:nvSpPr>
        <p:spPr>
          <a:xfrm>
            <a:off x="502920" y="5166360"/>
            <a:ext cx="1280160" cy="365760"/>
          </a:xfrm>
          <a:prstGeom prst="rect">
            <a:avLst/>
          </a:prstGeom>
          <a:noFill/>
          <a:ln>
            <a:noFill/>
          </a:ln>
        </p:spPr>
        <p:txBody>
          <a:bodyPr wrap="square" lIns="0" tIns="0" rIns="0" bIns="0" rtlCol="0" anchor="t"/>
          <a:lstStyle/>
          <a:p>
            <a:pPr marL="0" indent="0" algn="ctr">
              <a:buNone/>
            </a:pPr>
            <a:r>
              <a:rPr lang="en-US" sz="1100" i="1" dirty="0">
                <a:solidFill>
                  <a:schemeClr val="tx1"/>
                </a:solidFill>
              </a:rPr>
              <a:t>label + feature</a:t>
            </a:r>
          </a:p>
        </p:txBody>
      </p:sp>
      <p:sp>
        <p:nvSpPr>
          <p:cNvPr id="175" name="ml_a1"/>
          <p:cNvSpPr/>
          <p:nvPr/>
        </p:nvSpPr>
        <p:spPr>
          <a:xfrm>
            <a:off x="1348740" y="4937760"/>
            <a:ext cx="635508" cy="0"/>
          </a:xfrm>
          <a:prstGeom prst="line">
            <a:avLst/>
          </a:prstGeom>
          <a:noFill/>
          <a:ln w="28575">
            <a:solidFill>
              <a:schemeClr val="accent4"/>
            </a:solidFill>
            <a:tailEnd type="triangle" w="med" len="med"/>
          </a:ln>
        </p:spPr>
        <p:txBody>
          <a:bodyPr/>
          <a:lstStyle/>
          <a:p>
            <a:endParaRPr lang="en-SG"/>
          </a:p>
        </p:txBody>
      </p:sp>
      <p:sp>
        <p:nvSpPr>
          <p:cNvPr id="176" name="step_train"/>
          <p:cNvSpPr/>
          <p:nvPr/>
        </p:nvSpPr>
        <p:spPr>
          <a:xfrm>
            <a:off x="2011680" y="4572000"/>
            <a:ext cx="1463040" cy="731520"/>
          </a:xfrm>
          <a:prstGeom prst="roundRect">
            <a:avLst>
              <a:gd name="adj" fmla="val 9000"/>
            </a:avLst>
          </a:prstGeom>
          <a:solidFill>
            <a:schemeClr val="accent1"/>
          </a:solidFill>
          <a:ln>
            <a:noFill/>
          </a:ln>
        </p:spPr>
        <p:txBody>
          <a:bodyPr/>
          <a:lstStyle/>
          <a:p>
            <a:endParaRPr lang="en-SG"/>
          </a:p>
        </p:txBody>
      </p:sp>
      <p:pic>
        <p:nvPicPr>
          <p:cNvPr id="177" name="step_train_icon" descr="Train icon"/>
          <p:cNvPicPr>
            <a:picLocks noChangeAspect="1"/>
          </p:cNvPicPr>
          <p:nvPr/>
        </p:nvPicPr>
        <p:blipFill>
          <a:blip r:embed="rId7"/>
          <a:stretch>
            <a:fillRect/>
          </a:stretch>
        </p:blipFill>
        <p:spPr>
          <a:xfrm>
            <a:off x="2121408" y="4645152"/>
            <a:ext cx="292608" cy="292608"/>
          </a:xfrm>
          <a:prstGeom prst="rect">
            <a:avLst/>
          </a:prstGeom>
        </p:spPr>
      </p:pic>
      <p:sp>
        <p:nvSpPr>
          <p:cNvPr id="178" name="step_train_title"/>
          <p:cNvSpPr txBox="1"/>
          <p:nvPr/>
        </p:nvSpPr>
        <p:spPr>
          <a:xfrm>
            <a:off x="2468880" y="4626864"/>
            <a:ext cx="960120" cy="292608"/>
          </a:xfrm>
          <a:prstGeom prst="rect">
            <a:avLst/>
          </a:prstGeom>
          <a:noFill/>
          <a:ln>
            <a:noFill/>
          </a:ln>
        </p:spPr>
        <p:txBody>
          <a:bodyPr wrap="square" lIns="0" tIns="0" rIns="0" bIns="0" rtlCol="0" anchor="ctr"/>
          <a:lstStyle/>
          <a:p>
            <a:pPr marL="0" indent="0" algn="l">
              <a:buNone/>
            </a:pPr>
            <a:r>
              <a:rPr lang="en-US" sz="1400" b="1" dirty="0">
                <a:solidFill>
                  <a:schemeClr val="bg1"/>
                </a:solidFill>
              </a:rPr>
              <a:t>Train</a:t>
            </a:r>
          </a:p>
        </p:txBody>
      </p:sp>
      <p:sp>
        <p:nvSpPr>
          <p:cNvPr id="179" name="step_train_sub"/>
          <p:cNvSpPr txBox="1"/>
          <p:nvPr/>
        </p:nvSpPr>
        <p:spPr>
          <a:xfrm>
            <a:off x="2121408" y="4937760"/>
            <a:ext cx="1280160" cy="329184"/>
          </a:xfrm>
          <a:prstGeom prst="rect">
            <a:avLst/>
          </a:prstGeom>
          <a:noFill/>
          <a:ln>
            <a:noFill/>
          </a:ln>
        </p:spPr>
        <p:txBody>
          <a:bodyPr wrap="square" lIns="0" tIns="0" rIns="0" bIns="0" rtlCol="0" anchor="t"/>
          <a:lstStyle/>
          <a:p>
            <a:pPr marL="0" indent="0" algn="l">
              <a:buNone/>
            </a:pPr>
            <a:r>
              <a:rPr lang="en-US" sz="1100" dirty="0">
                <a:solidFill>
                  <a:schemeClr val="bg1"/>
                </a:solidFill>
              </a:rPr>
              <a:t>XGBoost, 12 + 2 month window</a:t>
            </a:r>
          </a:p>
        </p:txBody>
      </p:sp>
      <p:sp>
        <p:nvSpPr>
          <p:cNvPr id="180" name="ml_a2"/>
          <p:cNvSpPr/>
          <p:nvPr/>
        </p:nvSpPr>
        <p:spPr>
          <a:xfrm flipV="1">
            <a:off x="3474720" y="4919472"/>
            <a:ext cx="662940" cy="18288"/>
          </a:xfrm>
          <a:prstGeom prst="line">
            <a:avLst/>
          </a:prstGeom>
          <a:noFill/>
          <a:ln w="28575">
            <a:solidFill>
              <a:schemeClr val="accent4"/>
            </a:solidFill>
            <a:tailEnd type="triangle" w="med" len="med"/>
          </a:ln>
        </p:spPr>
        <p:txBody>
          <a:bodyPr/>
          <a:lstStyle/>
          <a:p>
            <a:endParaRPr lang="en-SG"/>
          </a:p>
        </p:txBody>
      </p:sp>
      <p:sp>
        <p:nvSpPr>
          <p:cNvPr id="181" name="bank_label"/>
          <p:cNvSpPr txBox="1"/>
          <p:nvPr/>
        </p:nvSpPr>
        <p:spPr>
          <a:xfrm>
            <a:off x="3749040" y="4503420"/>
            <a:ext cx="1188720" cy="219456"/>
          </a:xfrm>
          <a:prstGeom prst="rect">
            <a:avLst/>
          </a:prstGeom>
          <a:noFill/>
          <a:ln>
            <a:noFill/>
          </a:ln>
        </p:spPr>
        <p:txBody>
          <a:bodyPr wrap="square" lIns="0" tIns="0" rIns="0" bIns="0" rtlCol="0" anchor="b"/>
          <a:lstStyle/>
          <a:p>
            <a:pPr marL="0" indent="0" algn="ctr">
              <a:buNone/>
            </a:pPr>
            <a:r>
              <a:rPr lang="en-US" sz="1200" dirty="0">
                <a:solidFill>
                  <a:schemeClr val="tx1"/>
                </a:solidFill>
              </a:rPr>
              <a:t>model_bank</a:t>
            </a:r>
          </a:p>
        </p:txBody>
      </p:sp>
      <p:pic>
        <p:nvPicPr>
          <p:cNvPr id="182" name="bank_icon" descr="Database icon: model_bank"/>
          <p:cNvPicPr>
            <a:picLocks noChangeAspect="1"/>
          </p:cNvPicPr>
          <p:nvPr/>
        </p:nvPicPr>
        <p:blipFill>
          <a:blip r:embed="rId8"/>
          <a:stretch>
            <a:fillRect/>
          </a:stretch>
        </p:blipFill>
        <p:spPr>
          <a:xfrm>
            <a:off x="4137660" y="4732020"/>
            <a:ext cx="411480" cy="411480"/>
          </a:xfrm>
          <a:prstGeom prst="rect">
            <a:avLst/>
          </a:prstGeom>
        </p:spPr>
      </p:pic>
      <p:sp>
        <p:nvSpPr>
          <p:cNvPr id="183" name="bank_cap"/>
          <p:cNvSpPr txBox="1"/>
          <p:nvPr/>
        </p:nvSpPr>
        <p:spPr>
          <a:xfrm>
            <a:off x="3703320" y="5166360"/>
            <a:ext cx="1280160" cy="365760"/>
          </a:xfrm>
          <a:prstGeom prst="rect">
            <a:avLst/>
          </a:prstGeom>
          <a:noFill/>
          <a:ln>
            <a:noFill/>
          </a:ln>
        </p:spPr>
        <p:txBody>
          <a:bodyPr wrap="square" lIns="0" tIns="0" rIns="0" bIns="0" rtlCol="0" anchor="t"/>
          <a:lstStyle/>
          <a:p>
            <a:pPr marL="0" indent="0" algn="ctr">
              <a:buNone/>
            </a:pPr>
            <a:r>
              <a:rPr lang="en-US" sz="1100" i="1" dirty="0">
                <a:solidFill>
                  <a:schemeClr val="tx1"/>
                </a:solidFill>
              </a:rPr>
              <a:t>one pickle per training date</a:t>
            </a:r>
          </a:p>
        </p:txBody>
      </p:sp>
      <p:sp>
        <p:nvSpPr>
          <p:cNvPr id="184" name="ml_a3"/>
          <p:cNvSpPr/>
          <p:nvPr/>
        </p:nvSpPr>
        <p:spPr>
          <a:xfrm>
            <a:off x="4526280" y="4937760"/>
            <a:ext cx="658368" cy="0"/>
          </a:xfrm>
          <a:prstGeom prst="line">
            <a:avLst/>
          </a:prstGeom>
          <a:noFill/>
          <a:ln w="28575">
            <a:solidFill>
              <a:schemeClr val="accent4"/>
            </a:solidFill>
            <a:tailEnd type="triangle" w="med" len="med"/>
          </a:ln>
        </p:spPr>
        <p:txBody>
          <a:bodyPr/>
          <a:lstStyle/>
          <a:p>
            <a:endParaRPr lang="en-SG"/>
          </a:p>
        </p:txBody>
      </p:sp>
      <p:sp>
        <p:nvSpPr>
          <p:cNvPr id="185" name="step_infer"/>
          <p:cNvSpPr/>
          <p:nvPr/>
        </p:nvSpPr>
        <p:spPr>
          <a:xfrm>
            <a:off x="5212080" y="4572000"/>
            <a:ext cx="1463040" cy="731520"/>
          </a:xfrm>
          <a:prstGeom prst="roundRect">
            <a:avLst>
              <a:gd name="adj" fmla="val 9000"/>
            </a:avLst>
          </a:prstGeom>
          <a:solidFill>
            <a:schemeClr val="accent1"/>
          </a:solidFill>
          <a:ln>
            <a:noFill/>
          </a:ln>
        </p:spPr>
        <p:txBody>
          <a:bodyPr/>
          <a:lstStyle/>
          <a:p>
            <a:endParaRPr lang="en-SG"/>
          </a:p>
        </p:txBody>
      </p:sp>
      <p:pic>
        <p:nvPicPr>
          <p:cNvPr id="186" name="step_infer_icon" descr="Inference icon"/>
          <p:cNvPicPr>
            <a:picLocks noChangeAspect="1"/>
          </p:cNvPicPr>
          <p:nvPr/>
        </p:nvPicPr>
        <p:blipFill>
          <a:blip r:embed="rId9"/>
          <a:stretch>
            <a:fillRect/>
          </a:stretch>
        </p:blipFill>
        <p:spPr>
          <a:xfrm>
            <a:off x="5321808" y="4645152"/>
            <a:ext cx="292608" cy="292608"/>
          </a:xfrm>
          <a:prstGeom prst="rect">
            <a:avLst/>
          </a:prstGeom>
        </p:spPr>
      </p:pic>
      <p:sp>
        <p:nvSpPr>
          <p:cNvPr id="187" name="step_infer_title"/>
          <p:cNvSpPr txBox="1"/>
          <p:nvPr/>
        </p:nvSpPr>
        <p:spPr>
          <a:xfrm>
            <a:off x="5669280" y="4626864"/>
            <a:ext cx="960120" cy="292608"/>
          </a:xfrm>
          <a:prstGeom prst="rect">
            <a:avLst/>
          </a:prstGeom>
          <a:noFill/>
          <a:ln>
            <a:noFill/>
          </a:ln>
        </p:spPr>
        <p:txBody>
          <a:bodyPr wrap="square" lIns="0" tIns="0" rIns="0" bIns="0" rtlCol="0" anchor="ctr"/>
          <a:lstStyle/>
          <a:p>
            <a:pPr marL="0" indent="0" algn="l">
              <a:buNone/>
            </a:pPr>
            <a:r>
              <a:rPr lang="en-US" sz="1400" b="1" dirty="0">
                <a:solidFill>
                  <a:schemeClr val="bg1"/>
                </a:solidFill>
              </a:rPr>
              <a:t>Inference</a:t>
            </a:r>
          </a:p>
        </p:txBody>
      </p:sp>
      <p:sp>
        <p:nvSpPr>
          <p:cNvPr id="188" name="step_infer_sub"/>
          <p:cNvSpPr txBox="1"/>
          <p:nvPr/>
        </p:nvSpPr>
        <p:spPr>
          <a:xfrm>
            <a:off x="5321808" y="4937760"/>
            <a:ext cx="1280160" cy="329184"/>
          </a:xfrm>
          <a:prstGeom prst="rect">
            <a:avLst/>
          </a:prstGeom>
          <a:noFill/>
          <a:ln>
            <a:noFill/>
          </a:ln>
        </p:spPr>
        <p:txBody>
          <a:bodyPr wrap="square" lIns="0" tIns="0" rIns="0" bIns="0" rtlCol="0" anchor="t"/>
          <a:lstStyle/>
          <a:p>
            <a:pPr marL="0" indent="0" algn="l">
              <a:buNone/>
            </a:pPr>
            <a:r>
              <a:rPr lang="en-US" sz="1100" dirty="0">
                <a:solidFill>
                  <a:schemeClr val="bg1"/>
                </a:solidFill>
              </a:rPr>
              <a:t>scores new loans monthly</a:t>
            </a:r>
          </a:p>
        </p:txBody>
      </p:sp>
      <p:sp>
        <p:nvSpPr>
          <p:cNvPr id="189" name="ml_a4"/>
          <p:cNvSpPr/>
          <p:nvPr/>
        </p:nvSpPr>
        <p:spPr>
          <a:xfrm>
            <a:off x="6675120" y="4937760"/>
            <a:ext cx="662940" cy="0"/>
          </a:xfrm>
          <a:prstGeom prst="line">
            <a:avLst/>
          </a:prstGeom>
          <a:noFill/>
          <a:ln w="28575">
            <a:solidFill>
              <a:schemeClr val="accent4"/>
            </a:solidFill>
            <a:tailEnd type="triangle" w="med" len="med"/>
          </a:ln>
        </p:spPr>
        <p:txBody>
          <a:bodyPr/>
          <a:lstStyle/>
          <a:p>
            <a:endParaRPr lang="en-SG"/>
          </a:p>
        </p:txBody>
      </p:sp>
      <p:sp>
        <p:nvSpPr>
          <p:cNvPr id="190" name="pred_label"/>
          <p:cNvSpPr txBox="1"/>
          <p:nvPr/>
        </p:nvSpPr>
        <p:spPr>
          <a:xfrm>
            <a:off x="6949440" y="4503420"/>
            <a:ext cx="1188720" cy="219456"/>
          </a:xfrm>
          <a:prstGeom prst="rect">
            <a:avLst/>
          </a:prstGeom>
          <a:noFill/>
          <a:ln>
            <a:noFill/>
          </a:ln>
        </p:spPr>
        <p:txBody>
          <a:bodyPr wrap="square" lIns="0" tIns="0" rIns="0" bIns="0" rtlCol="0" anchor="b"/>
          <a:lstStyle/>
          <a:p>
            <a:pPr marL="0" indent="0" algn="ctr">
              <a:buNone/>
            </a:pPr>
            <a:r>
              <a:rPr lang="en-US" sz="1200" dirty="0">
                <a:solidFill>
                  <a:schemeClr val="tx1"/>
                </a:solidFill>
              </a:rPr>
              <a:t>model_predictions</a:t>
            </a:r>
          </a:p>
        </p:txBody>
      </p:sp>
      <p:pic>
        <p:nvPicPr>
          <p:cNvPr id="191" name="pred_icon" descr="Database icon: model_predictions"/>
          <p:cNvPicPr>
            <a:picLocks noChangeAspect="1"/>
          </p:cNvPicPr>
          <p:nvPr/>
        </p:nvPicPr>
        <p:blipFill>
          <a:blip r:embed="rId8"/>
          <a:stretch>
            <a:fillRect/>
          </a:stretch>
        </p:blipFill>
        <p:spPr>
          <a:xfrm>
            <a:off x="7338060" y="4732020"/>
            <a:ext cx="411480" cy="411480"/>
          </a:xfrm>
          <a:prstGeom prst="rect">
            <a:avLst/>
          </a:prstGeom>
        </p:spPr>
      </p:pic>
      <p:sp>
        <p:nvSpPr>
          <p:cNvPr id="192" name="pred_cap"/>
          <p:cNvSpPr txBox="1"/>
          <p:nvPr/>
        </p:nvSpPr>
        <p:spPr>
          <a:xfrm>
            <a:off x="6903720" y="5166360"/>
            <a:ext cx="1280160" cy="365760"/>
          </a:xfrm>
          <a:prstGeom prst="rect">
            <a:avLst/>
          </a:prstGeom>
          <a:noFill/>
          <a:ln>
            <a:noFill/>
          </a:ln>
        </p:spPr>
        <p:txBody>
          <a:bodyPr wrap="square" lIns="0" tIns="0" rIns="0" bIns="0" rtlCol="0" anchor="t"/>
          <a:lstStyle/>
          <a:p>
            <a:pPr marL="0" indent="0" algn="ctr">
              <a:buNone/>
            </a:pPr>
            <a:r>
              <a:rPr lang="en-US" sz="1100" i="1" dirty="0">
                <a:solidFill>
                  <a:schemeClr val="tx1"/>
                </a:solidFill>
              </a:rPr>
              <a:t>gold table</a:t>
            </a:r>
          </a:p>
        </p:txBody>
      </p:sp>
      <p:sp>
        <p:nvSpPr>
          <p:cNvPr id="193" name="ml_a5"/>
          <p:cNvSpPr/>
          <p:nvPr/>
        </p:nvSpPr>
        <p:spPr>
          <a:xfrm>
            <a:off x="7749540" y="4937760"/>
            <a:ext cx="635508" cy="0"/>
          </a:xfrm>
          <a:prstGeom prst="line">
            <a:avLst/>
          </a:prstGeom>
          <a:noFill/>
          <a:ln w="28575">
            <a:solidFill>
              <a:schemeClr val="accent4"/>
            </a:solidFill>
            <a:tailEnd type="triangle" w="med" len="med"/>
          </a:ln>
        </p:spPr>
        <p:txBody>
          <a:bodyPr/>
          <a:lstStyle/>
          <a:p>
            <a:endParaRPr lang="en-SG"/>
          </a:p>
        </p:txBody>
      </p:sp>
      <p:sp>
        <p:nvSpPr>
          <p:cNvPr id="194" name="step_monitor"/>
          <p:cNvSpPr/>
          <p:nvPr/>
        </p:nvSpPr>
        <p:spPr>
          <a:xfrm>
            <a:off x="8412480" y="4572000"/>
            <a:ext cx="1463040" cy="731520"/>
          </a:xfrm>
          <a:prstGeom prst="roundRect">
            <a:avLst>
              <a:gd name="adj" fmla="val 9000"/>
            </a:avLst>
          </a:prstGeom>
          <a:solidFill>
            <a:schemeClr val="accent1"/>
          </a:solidFill>
          <a:ln>
            <a:noFill/>
          </a:ln>
        </p:spPr>
        <p:txBody>
          <a:bodyPr/>
          <a:lstStyle/>
          <a:p>
            <a:endParaRPr lang="en-SG"/>
          </a:p>
        </p:txBody>
      </p:sp>
      <p:pic>
        <p:nvPicPr>
          <p:cNvPr id="195" name="step_monitor_icon" descr="Monitor icon"/>
          <p:cNvPicPr>
            <a:picLocks noChangeAspect="1"/>
          </p:cNvPicPr>
          <p:nvPr/>
        </p:nvPicPr>
        <p:blipFill>
          <a:blip r:embed="rId10"/>
          <a:stretch>
            <a:fillRect/>
          </a:stretch>
        </p:blipFill>
        <p:spPr>
          <a:xfrm>
            <a:off x="8522208" y="4645152"/>
            <a:ext cx="292608" cy="292608"/>
          </a:xfrm>
          <a:prstGeom prst="rect">
            <a:avLst/>
          </a:prstGeom>
        </p:spPr>
      </p:pic>
      <p:sp>
        <p:nvSpPr>
          <p:cNvPr id="196" name="step_monitor_title"/>
          <p:cNvSpPr txBox="1"/>
          <p:nvPr/>
        </p:nvSpPr>
        <p:spPr>
          <a:xfrm>
            <a:off x="8869680" y="4626864"/>
            <a:ext cx="960120" cy="292608"/>
          </a:xfrm>
          <a:prstGeom prst="rect">
            <a:avLst/>
          </a:prstGeom>
          <a:noFill/>
          <a:ln>
            <a:noFill/>
          </a:ln>
        </p:spPr>
        <p:txBody>
          <a:bodyPr wrap="square" lIns="0" tIns="0" rIns="0" bIns="0" rtlCol="0" anchor="ctr"/>
          <a:lstStyle/>
          <a:p>
            <a:pPr marL="0" indent="0" algn="l">
              <a:buNone/>
            </a:pPr>
            <a:r>
              <a:rPr lang="en-US" sz="1400" b="1" dirty="0">
                <a:solidFill>
                  <a:schemeClr val="bg1"/>
                </a:solidFill>
              </a:rPr>
              <a:t>Monitor</a:t>
            </a:r>
          </a:p>
        </p:txBody>
      </p:sp>
      <p:sp>
        <p:nvSpPr>
          <p:cNvPr id="197" name="step_monitor_sub"/>
          <p:cNvSpPr txBox="1"/>
          <p:nvPr/>
        </p:nvSpPr>
        <p:spPr>
          <a:xfrm>
            <a:off x="8522208" y="4937760"/>
            <a:ext cx="1280160" cy="329184"/>
          </a:xfrm>
          <a:prstGeom prst="rect">
            <a:avLst/>
          </a:prstGeom>
          <a:noFill/>
          <a:ln>
            <a:noFill/>
          </a:ln>
        </p:spPr>
        <p:txBody>
          <a:bodyPr wrap="square" lIns="0" tIns="0" rIns="0" bIns="0" rtlCol="0" anchor="t"/>
          <a:lstStyle/>
          <a:p>
            <a:pPr marL="0" indent="0" algn="l">
              <a:buNone/>
            </a:pPr>
            <a:r>
              <a:rPr lang="en-US" sz="1100" dirty="0">
                <a:solidFill>
                  <a:schemeClr val="bg1"/>
                </a:solidFill>
              </a:rPr>
              <a:t>PSI, CSI and AUC</a:t>
            </a:r>
          </a:p>
        </p:txBody>
      </p:sp>
      <p:sp>
        <p:nvSpPr>
          <p:cNvPr id="198" name="ml_a6"/>
          <p:cNvSpPr/>
          <p:nvPr/>
        </p:nvSpPr>
        <p:spPr>
          <a:xfrm>
            <a:off x="9875520" y="4937760"/>
            <a:ext cx="662940" cy="0"/>
          </a:xfrm>
          <a:prstGeom prst="line">
            <a:avLst/>
          </a:prstGeom>
          <a:noFill/>
          <a:ln w="28575">
            <a:solidFill>
              <a:schemeClr val="accent4"/>
            </a:solidFill>
            <a:tailEnd type="triangle" w="med" len="med"/>
          </a:ln>
        </p:spPr>
        <p:txBody>
          <a:bodyPr/>
          <a:lstStyle/>
          <a:p>
            <a:endParaRPr lang="en-SG"/>
          </a:p>
        </p:txBody>
      </p:sp>
      <p:sp>
        <p:nvSpPr>
          <p:cNvPr id="199" name="mon_label"/>
          <p:cNvSpPr txBox="1"/>
          <p:nvPr/>
        </p:nvSpPr>
        <p:spPr>
          <a:xfrm>
            <a:off x="10149840" y="4503420"/>
            <a:ext cx="1188720" cy="219456"/>
          </a:xfrm>
          <a:prstGeom prst="rect">
            <a:avLst/>
          </a:prstGeom>
          <a:noFill/>
          <a:ln>
            <a:noFill/>
          </a:ln>
        </p:spPr>
        <p:txBody>
          <a:bodyPr wrap="square" lIns="0" tIns="0" rIns="0" bIns="0" rtlCol="0" anchor="b"/>
          <a:lstStyle/>
          <a:p>
            <a:pPr marL="0" indent="0" algn="ctr">
              <a:buNone/>
            </a:pPr>
            <a:r>
              <a:rPr lang="en-US" sz="1200" dirty="0">
                <a:solidFill>
                  <a:schemeClr val="tx1"/>
                </a:solidFill>
              </a:rPr>
              <a:t>model_monitoring</a:t>
            </a:r>
          </a:p>
        </p:txBody>
      </p:sp>
      <p:pic>
        <p:nvPicPr>
          <p:cNvPr id="200" name="mon_icon" descr="Database icon: model_monitoring"/>
          <p:cNvPicPr>
            <a:picLocks noChangeAspect="1"/>
          </p:cNvPicPr>
          <p:nvPr/>
        </p:nvPicPr>
        <p:blipFill>
          <a:blip r:embed="rId8"/>
          <a:stretch>
            <a:fillRect/>
          </a:stretch>
        </p:blipFill>
        <p:spPr>
          <a:xfrm>
            <a:off x="10538460" y="4732020"/>
            <a:ext cx="411480" cy="411480"/>
          </a:xfrm>
          <a:prstGeom prst="rect">
            <a:avLst/>
          </a:prstGeom>
        </p:spPr>
      </p:pic>
      <p:sp>
        <p:nvSpPr>
          <p:cNvPr id="201" name="mon_cap"/>
          <p:cNvSpPr txBox="1"/>
          <p:nvPr/>
        </p:nvSpPr>
        <p:spPr>
          <a:xfrm>
            <a:off x="10104120" y="5166360"/>
            <a:ext cx="1280160" cy="365760"/>
          </a:xfrm>
          <a:prstGeom prst="rect">
            <a:avLst/>
          </a:prstGeom>
          <a:noFill/>
          <a:ln>
            <a:noFill/>
          </a:ln>
        </p:spPr>
        <p:txBody>
          <a:bodyPr wrap="square" lIns="0" tIns="0" rIns="0" bIns="0" rtlCol="0" anchor="t"/>
          <a:lstStyle/>
          <a:p>
            <a:pPr marL="0" indent="0" algn="ctr">
              <a:buNone/>
            </a:pPr>
            <a:r>
              <a:rPr lang="en-US" sz="1100" i="1" dirty="0">
                <a:solidFill>
                  <a:schemeClr val="tx1"/>
                </a:solidFill>
              </a:rPr>
              <a:t>gold table</a:t>
            </a:r>
          </a:p>
        </p:txBody>
      </p:sp>
      <p:sp>
        <p:nvSpPr>
          <p:cNvPr id="202" name="ml_feed"/>
          <p:cNvSpPr txBox="1"/>
          <p:nvPr/>
        </p:nvSpPr>
        <p:spPr>
          <a:xfrm>
            <a:off x="548640" y="5550408"/>
            <a:ext cx="11064240" cy="228600"/>
          </a:xfrm>
          <a:prstGeom prst="rect">
            <a:avLst/>
          </a:prstGeom>
          <a:noFill/>
          <a:ln>
            <a:noFill/>
          </a:ln>
        </p:spPr>
        <p:txBody>
          <a:bodyPr wrap="square" lIns="0" tIns="0" rIns="0" bIns="0" rtlCol="0" anchor="ctr"/>
          <a:lstStyle/>
          <a:p>
            <a:pPr marL="0" indent="0" algn="ctr">
              <a:buNone/>
            </a:pPr>
            <a:r>
              <a:rPr lang="en-US" sz="1100" i="1" dirty="0">
                <a:solidFill>
                  <a:schemeClr val="tx1"/>
                </a:solidFill>
              </a:rPr>
              <a:t>Gold features feed training and inference; gold labels feed training and the AUC check in monitoring</a:t>
            </a:r>
          </a:p>
        </p:txBody>
      </p:sp>
      <p:sp>
        <p:nvSpPr>
          <p:cNvPr id="26" name="card43"/>
          <p:cNvSpPr/>
          <p:nvPr/>
        </p:nvSpPr>
        <p:spPr>
          <a:xfrm>
            <a:off x="548640" y="5852160"/>
            <a:ext cx="11064240" cy="502920"/>
          </a:xfrm>
          <a:prstGeom prst="roundRect">
            <a:avLst>
              <a:gd name="adj" fmla="val 11765"/>
            </a:avLst>
          </a:prstGeom>
          <a:solidFill>
            <a:schemeClr val="bg2"/>
          </a:solidFill>
          <a:ln/>
        </p:spPr>
        <p:txBody>
          <a:bodyPr/>
          <a:lstStyle/>
          <a:p>
            <a:endParaRPr lang="en-SG"/>
          </a:p>
        </p:txBody>
      </p:sp>
      <p:sp>
        <p:nvSpPr>
          <p:cNvPr id="27" name="text44"/>
          <p:cNvSpPr txBox="1"/>
          <p:nvPr/>
        </p:nvSpPr>
        <p:spPr>
          <a:xfrm>
            <a:off x="731520" y="5879592"/>
            <a:ext cx="10698480" cy="448056"/>
          </a:xfrm>
          <a:prstGeom prst="rect">
            <a:avLst/>
          </a:prstGeom>
          <a:noFill/>
          <a:ln/>
        </p:spPr>
        <p:txBody>
          <a:bodyPr wrap="square" lIns="0" tIns="0" rIns="0" bIns="0" rtlCol="0" anchor="ctr"/>
          <a:lstStyle/>
          <a:p>
            <a:pPr marL="0" indent="0">
              <a:buNone/>
            </a:pPr>
            <a:r>
              <a:rPr lang="en-US" sz="1400" dirty="0">
                <a:solidFill>
                  <a:schemeClr val="tx1"/>
                </a:solidFill>
              </a:rPr>
              <a:t>One Airflow DAG runs every stage monthly with backfill, one run at a time. Gates skip dates where features or models do not exist yet, failed tasks retry once, and every stage re-runs safely because each writes its own dated partition.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Data is cleaned once in silver, then shaped into one leak-free feature row per loan</a:t>
            </a:r>
            <a:endParaRPr lang="en-US" sz="2800" dirty="0"/>
          </a:p>
        </p:txBody>
      </p:sp>
      <p:sp>
        <p:nvSpPr>
          <p:cNvPr id="3" name="card45"/>
          <p:cNvSpPr/>
          <p:nvPr/>
        </p:nvSpPr>
        <p:spPr>
          <a:xfrm>
            <a:off x="548640" y="1463040"/>
            <a:ext cx="3566160" cy="3931920"/>
          </a:xfrm>
          <a:prstGeom prst="roundRect">
            <a:avLst>
              <a:gd name="adj" fmla="val 2564"/>
            </a:avLst>
          </a:prstGeom>
          <a:solidFill>
            <a:schemeClr val="bg2"/>
          </a:solidFill>
          <a:ln/>
        </p:spPr>
        <p:txBody>
          <a:bodyPr/>
          <a:lstStyle/>
          <a:p>
            <a:endParaRPr lang="en-SG"/>
          </a:p>
        </p:txBody>
      </p:sp>
      <p:sp>
        <p:nvSpPr>
          <p:cNvPr id="4" name="text46"/>
          <p:cNvSpPr txBox="1"/>
          <p:nvPr/>
        </p:nvSpPr>
        <p:spPr>
          <a:xfrm>
            <a:off x="777240" y="1645920"/>
            <a:ext cx="3108960" cy="3657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Clean (silver)</a:t>
            </a:r>
            <a:endParaRPr lang="en-US" sz="1400" dirty="0"/>
          </a:p>
        </p:txBody>
      </p:sp>
      <p:sp>
        <p:nvSpPr>
          <p:cNvPr id="5" name="text47"/>
          <p:cNvSpPr txBox="1"/>
          <p:nvPr/>
        </p:nvSpPr>
        <p:spPr>
          <a:xfrm>
            <a:off x="777240" y="2148840"/>
            <a:ext cx="31089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Placeholder junk such as "_" or "!@9#%8" becomes null</a:t>
            </a:r>
            <a:endParaRPr lang="en-US" sz="1400" dirty="0"/>
          </a:p>
          <a:p>
            <a:pPr marL="342900" indent="-342900">
              <a:spcAft>
                <a:spcPts val="600"/>
              </a:spcAft>
              <a:buSzPct val="100000"/>
              <a:buChar char="•"/>
            </a:pPr>
            <a:r>
              <a:rPr lang="en-US" sz="1400" dirty="0">
                <a:solidFill>
                  <a:schemeClr val="tx1"/>
                </a:solidFill>
              </a:rPr>
              <a:t>Impossible values become null (age over 100, over 10 bank accounts)</a:t>
            </a:r>
            <a:endParaRPr lang="en-US" sz="1400" dirty="0"/>
          </a:p>
          <a:p>
            <a:pPr marL="342900" indent="-342900">
              <a:spcAft>
                <a:spcPts val="600"/>
              </a:spcAft>
              <a:buSzPct val="100000"/>
              <a:buChar char="•"/>
            </a:pPr>
            <a:r>
              <a:rPr lang="en-US" sz="1400" dirty="0">
                <a:solidFill>
                  <a:schemeClr val="tx1"/>
                </a:solidFill>
              </a:rPr>
              <a:t>"5 Years and 3 Months" becomes 63 months</a:t>
            </a:r>
            <a:endParaRPr lang="en-US" sz="1400" dirty="0"/>
          </a:p>
          <a:p>
            <a:pPr marL="342900" indent="-342900">
              <a:spcAft>
                <a:spcPts val="600"/>
              </a:spcAft>
              <a:buSzPct val="100000"/>
              <a:buChar char="•"/>
            </a:pPr>
            <a:r>
              <a:rPr lang="en-US" sz="1400" dirty="0">
                <a:solidFill>
                  <a:schemeClr val="tx1"/>
                </a:solidFill>
              </a:rPr>
              <a:t>Names and SSNs are dropped before modelling</a:t>
            </a:r>
            <a:endParaRPr lang="en-US" sz="1400" dirty="0"/>
          </a:p>
        </p:txBody>
      </p:sp>
      <p:sp>
        <p:nvSpPr>
          <p:cNvPr id="6" name="card48"/>
          <p:cNvSpPr/>
          <p:nvPr/>
        </p:nvSpPr>
        <p:spPr>
          <a:xfrm>
            <a:off x="4297680" y="1463040"/>
            <a:ext cx="3566160" cy="3931920"/>
          </a:xfrm>
          <a:prstGeom prst="roundRect">
            <a:avLst>
              <a:gd name="adj" fmla="val 2564"/>
            </a:avLst>
          </a:prstGeom>
          <a:solidFill>
            <a:schemeClr val="bg2"/>
          </a:solidFill>
          <a:ln/>
        </p:spPr>
        <p:txBody>
          <a:bodyPr/>
          <a:lstStyle/>
          <a:p>
            <a:endParaRPr lang="en-SG"/>
          </a:p>
        </p:txBody>
      </p:sp>
      <p:sp>
        <p:nvSpPr>
          <p:cNvPr id="7" name="text49"/>
          <p:cNvSpPr txBox="1"/>
          <p:nvPr/>
        </p:nvSpPr>
        <p:spPr>
          <a:xfrm>
            <a:off x="4526280" y="1645920"/>
            <a:ext cx="3108960" cy="3657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Engineer (gold features)</a:t>
            </a:r>
            <a:endParaRPr lang="en-US" sz="1400" dirty="0"/>
          </a:p>
        </p:txBody>
      </p:sp>
      <p:sp>
        <p:nvSpPr>
          <p:cNvPr id="8" name="text50"/>
          <p:cNvSpPr txBox="1"/>
          <p:nvPr/>
        </p:nvSpPr>
        <p:spPr>
          <a:xfrm>
            <a:off x="4526280" y="2148840"/>
            <a:ext cx="31089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row per loan, built at origination</a:t>
            </a:r>
            <a:endParaRPr lang="en-US" sz="1400" dirty="0"/>
          </a:p>
          <a:p>
            <a:pPr marL="342900" indent="-342900">
              <a:spcAft>
                <a:spcPts val="600"/>
              </a:spcAft>
              <a:buSzPct val="100000"/>
              <a:buChar char="•"/>
            </a:pPr>
            <a:r>
              <a:rPr lang="en-US" sz="1400" dirty="0">
                <a:solidFill>
                  <a:schemeClr val="tx1"/>
                </a:solidFill>
              </a:rPr>
              <a:t>Ratios of EMI, debt, balance and investment to income</a:t>
            </a:r>
            <a:endParaRPr lang="en-US" sz="1400" dirty="0"/>
          </a:p>
          <a:p>
            <a:pPr marL="342900" indent="-342900">
              <a:spcAft>
                <a:spcPts val="600"/>
              </a:spcAft>
              <a:buSzPct val="100000"/>
              <a:buChar char="•"/>
            </a:pPr>
            <a:r>
              <a:rPr lang="en-US" sz="1400" dirty="0">
                <a:solidFill>
                  <a:schemeClr val="tx1"/>
                </a:solidFill>
              </a:rPr>
              <a:t>Bands for age, credit history and utilisation</a:t>
            </a:r>
            <a:endParaRPr lang="en-US" sz="1400" dirty="0"/>
          </a:p>
          <a:p>
            <a:pPr marL="342900" indent="-342900">
              <a:spcAft>
                <a:spcPts val="600"/>
              </a:spcAft>
              <a:buSzPct val="100000"/>
              <a:buChar char="•"/>
            </a:pPr>
            <a:r>
              <a:rPr lang="en-US" sz="1400" dirty="0">
                <a:solidFill>
                  <a:schemeClr val="tx1"/>
                </a:solidFill>
              </a:rPr>
              <a:t>Clickstream: 6-month pre-application average; no customers match from Jul 2024</a:t>
            </a:r>
            <a:endParaRPr lang="en-US" sz="1400" dirty="0"/>
          </a:p>
          <a:p>
            <a:pPr marL="342900" indent="-342900">
              <a:spcAft>
                <a:spcPts val="600"/>
              </a:spcAft>
              <a:buSzPct val="100000"/>
              <a:buChar char="•"/>
            </a:pPr>
            <a:r>
              <a:rPr lang="en-US" sz="1400" dirty="0">
                <a:solidFill>
                  <a:schemeClr val="tx1"/>
                </a:solidFill>
              </a:rPr>
              <a:t>Dropped as redundant after correlation clustering: Monthly_Inhand_Salary, Post_EMI_Slack, Loan_Type_Diversity</a:t>
            </a:r>
            <a:endParaRPr lang="en-US" sz="1400" dirty="0"/>
          </a:p>
        </p:txBody>
      </p:sp>
      <p:sp>
        <p:nvSpPr>
          <p:cNvPr id="9" name="card51"/>
          <p:cNvSpPr/>
          <p:nvPr/>
        </p:nvSpPr>
        <p:spPr>
          <a:xfrm>
            <a:off x="8046720" y="1463040"/>
            <a:ext cx="3566160" cy="3931920"/>
          </a:xfrm>
          <a:prstGeom prst="roundRect">
            <a:avLst>
              <a:gd name="adj" fmla="val 2564"/>
            </a:avLst>
          </a:prstGeom>
          <a:solidFill>
            <a:schemeClr val="bg2"/>
          </a:solidFill>
          <a:ln/>
        </p:spPr>
        <p:txBody>
          <a:bodyPr/>
          <a:lstStyle/>
          <a:p>
            <a:endParaRPr lang="en-SG"/>
          </a:p>
        </p:txBody>
      </p:sp>
      <p:sp>
        <p:nvSpPr>
          <p:cNvPr id="10" name="text52"/>
          <p:cNvSpPr txBox="1"/>
          <p:nvPr/>
        </p:nvSpPr>
        <p:spPr>
          <a:xfrm>
            <a:off x="8275320" y="1645920"/>
            <a:ext cx="3108960" cy="3657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Label and guard (gold labels)</a:t>
            </a:r>
            <a:endParaRPr lang="en-US" sz="1400" dirty="0"/>
          </a:p>
        </p:txBody>
      </p:sp>
      <p:sp>
        <p:nvSpPr>
          <p:cNvPr id="11" name="text53"/>
          <p:cNvSpPr txBox="1"/>
          <p:nvPr/>
        </p:nvSpPr>
        <p:spPr>
          <a:xfrm>
            <a:off x="8275320" y="2148840"/>
            <a:ext cx="31089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Bad = 30+ days past due at 6 months on book</a:t>
            </a:r>
            <a:endParaRPr lang="en-US" sz="1400" dirty="0"/>
          </a:p>
          <a:p>
            <a:pPr marL="342900" indent="-342900">
              <a:spcAft>
                <a:spcPts val="600"/>
              </a:spcAft>
              <a:buSzPct val="100000"/>
              <a:buChar char="•"/>
            </a:pPr>
            <a:r>
              <a:rPr lang="en-US" sz="1400" dirty="0">
                <a:solidFill>
                  <a:schemeClr val="tx1"/>
                </a:solidFill>
              </a:rPr>
              <a:t>Labels and features join on loan_id, never on date</a:t>
            </a:r>
            <a:endParaRPr lang="en-US" sz="1400" dirty="0"/>
          </a:p>
          <a:p>
            <a:pPr marL="342900" indent="-342900">
              <a:spcAft>
                <a:spcPts val="600"/>
              </a:spcAft>
              <a:buSzPct val="100000"/>
              <a:buChar char="•"/>
            </a:pPr>
            <a:r>
              <a:rPr lang="en-US" sz="1400" dirty="0">
                <a:solidFill>
                  <a:schemeClr val="tx1"/>
                </a:solidFill>
              </a:rPr>
              <a:t>The run stops if under 95% of labels have features</a:t>
            </a:r>
            <a:endParaRPr lang="en-US" sz="1400" dirty="0"/>
          </a:p>
          <a:p>
            <a:pPr marL="342900" indent="-342900">
              <a:spcAft>
                <a:spcPts val="600"/>
              </a:spcAft>
              <a:buSzPct val="100000"/>
              <a:buChar char="•"/>
            </a:pPr>
            <a:r>
              <a:rPr lang="en-US" sz="1400" dirty="0">
                <a:solidFill>
                  <a:schemeClr val="tx1"/>
                </a:solidFill>
              </a:rPr>
              <a:t>Joins are checked for fan-out and empty partitions</a:t>
            </a:r>
            <a:endParaRPr lang="en-US" sz="1400" dirty="0"/>
          </a:p>
        </p:txBody>
      </p:sp>
      <p:sp>
        <p:nvSpPr>
          <p:cNvPr id="12" name="card54"/>
          <p:cNvSpPr/>
          <p:nvPr/>
        </p:nvSpPr>
        <p:spPr>
          <a:xfrm>
            <a:off x="548640" y="5577840"/>
            <a:ext cx="11064240" cy="685800"/>
          </a:xfrm>
          <a:prstGeom prst="roundRect">
            <a:avLst>
              <a:gd name="adj" fmla="val 13333"/>
            </a:avLst>
          </a:prstGeom>
          <a:solidFill>
            <a:schemeClr val="tx2"/>
          </a:solidFill>
          <a:ln/>
        </p:spPr>
        <p:txBody>
          <a:bodyPr/>
          <a:lstStyle/>
          <a:p>
            <a:endParaRPr lang="en-SG"/>
          </a:p>
        </p:txBody>
      </p:sp>
      <p:sp>
        <p:nvSpPr>
          <p:cNvPr id="13" name="text55"/>
          <p:cNvSpPr txBox="1"/>
          <p:nvPr/>
        </p:nvSpPr>
        <p:spPr>
          <a:xfrm>
            <a:off x="777240" y="5577840"/>
            <a:ext cx="10607040" cy="685800"/>
          </a:xfrm>
          <a:prstGeom prst="rect">
            <a:avLst/>
          </a:prstGeom>
          <a:noFill/>
          <a:ln/>
        </p:spPr>
        <p:txBody>
          <a:bodyPr wrap="square" lIns="0" tIns="0" rIns="0" bIns="0" rtlCol="0" anchor="ctr"/>
          <a:lstStyle/>
          <a:p>
            <a:pPr marL="0" indent="0">
              <a:buNone/>
            </a:pPr>
            <a:r>
              <a:rPr lang="en-US" sz="1400" b="1" dirty="0">
                <a:solidFill>
                  <a:schemeClr val="bg1"/>
                </a:solidFill>
              </a:rPr>
              <a:t>Leakage control: a loan’s features are frozen at origination, and its label is only read six months later.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One tuned XGBoost model, validated on a later time window than it was trained on</a:t>
            </a:r>
            <a:endParaRPr lang="en-US" sz="2800" dirty="0"/>
          </a:p>
        </p:txBody>
      </p:sp>
      <p:sp>
        <p:nvSpPr>
          <p:cNvPr id="3" name="tl_train"/>
          <p:cNvSpPr/>
          <p:nvPr/>
        </p:nvSpPr>
        <p:spPr>
          <a:xfrm>
            <a:off x="548640" y="1554480"/>
            <a:ext cx="5486400" cy="731520"/>
          </a:xfrm>
          <a:prstGeom prst="rect">
            <a:avLst/>
          </a:prstGeom>
          <a:solidFill>
            <a:schemeClr val="accent1"/>
          </a:solidFill>
          <a:ln/>
        </p:spPr>
        <p:txBody>
          <a:bodyPr/>
          <a:lstStyle/>
          <a:p>
            <a:endParaRPr lang="en-SG"/>
          </a:p>
        </p:txBody>
      </p:sp>
      <p:sp>
        <p:nvSpPr>
          <p:cNvPr id="4" name="tl_oot"/>
          <p:cNvSpPr/>
          <p:nvPr/>
        </p:nvSpPr>
        <p:spPr>
          <a:xfrm>
            <a:off x="6035040" y="1554480"/>
            <a:ext cx="914400" cy="731520"/>
          </a:xfrm>
          <a:prstGeom prst="rect">
            <a:avLst/>
          </a:prstGeom>
          <a:solidFill>
            <a:schemeClr val="accent2"/>
          </a:solidFill>
          <a:ln/>
        </p:spPr>
        <p:txBody>
          <a:bodyPr/>
          <a:lstStyle/>
          <a:p>
            <a:endParaRPr lang="en-SG"/>
          </a:p>
        </p:txBody>
      </p:sp>
      <p:sp>
        <p:nvSpPr>
          <p:cNvPr id="5" name="text56"/>
          <p:cNvSpPr txBox="1"/>
          <p:nvPr/>
        </p:nvSpPr>
        <p:spPr>
          <a:xfrm>
            <a:off x="548640" y="1554480"/>
            <a:ext cx="5486400" cy="731520"/>
          </a:xfrm>
          <a:prstGeom prst="rect">
            <a:avLst/>
          </a:prstGeom>
          <a:noFill/>
          <a:ln/>
        </p:spPr>
        <p:txBody>
          <a:bodyPr wrap="square" lIns="0" tIns="0" rIns="0" bIns="0" rtlCol="0" anchor="ctr"/>
          <a:lstStyle/>
          <a:p>
            <a:pPr marL="0" indent="0" algn="ctr">
              <a:buNone/>
            </a:pPr>
            <a:r>
              <a:rPr lang="en-US" sz="1400" b="1" dirty="0">
                <a:solidFill>
                  <a:schemeClr val="bg1"/>
                </a:solidFill>
              </a:rPr>
              <a:t>Train / test: 12 months</a:t>
            </a:r>
            <a:endParaRPr lang="en-US" sz="1400" dirty="0"/>
          </a:p>
        </p:txBody>
      </p:sp>
      <p:sp>
        <p:nvSpPr>
          <p:cNvPr id="6" name="text57"/>
          <p:cNvSpPr txBox="1"/>
          <p:nvPr/>
        </p:nvSpPr>
        <p:spPr>
          <a:xfrm>
            <a:off x="6035040" y="1554480"/>
            <a:ext cx="914400" cy="731520"/>
          </a:xfrm>
          <a:prstGeom prst="rect">
            <a:avLst/>
          </a:prstGeom>
          <a:noFill/>
          <a:ln/>
        </p:spPr>
        <p:txBody>
          <a:bodyPr wrap="square" lIns="0" tIns="0" rIns="0" bIns="0" rtlCol="0" anchor="ctr"/>
          <a:lstStyle/>
          <a:p>
            <a:pPr marL="0" indent="0" algn="ctr">
              <a:buNone/>
            </a:pPr>
            <a:r>
              <a:rPr lang="en-US" sz="1400" b="1" dirty="0">
                <a:solidFill>
                  <a:schemeClr val="tx1"/>
                </a:solidFill>
              </a:rPr>
              <a:t>OOT</a:t>
            </a:r>
            <a:endParaRPr lang="en-US" sz="1400" dirty="0"/>
          </a:p>
        </p:txBody>
      </p:sp>
      <p:sp>
        <p:nvSpPr>
          <p:cNvPr id="7" name="text58"/>
          <p:cNvSpPr txBox="1"/>
          <p:nvPr/>
        </p:nvSpPr>
        <p:spPr>
          <a:xfrm>
            <a:off x="548640" y="2377440"/>
            <a:ext cx="3566160" cy="640080"/>
          </a:xfrm>
          <a:prstGeom prst="rect">
            <a:avLst/>
          </a:prstGeom>
          <a:noFill/>
          <a:ln/>
        </p:spPr>
        <p:txBody>
          <a:bodyPr wrap="square" lIns="0" tIns="0" rIns="0" bIns="0" rtlCol="0" anchor="t"/>
          <a:lstStyle/>
          <a:p>
            <a:pPr marL="0" indent="0">
              <a:buNone/>
            </a:pPr>
            <a:r>
              <a:rPr lang="en-US" sz="1400" dirty="0">
                <a:solidFill>
                  <a:schemeClr val="tx1"/>
                </a:solidFill>
              </a:rPr>
              <a:t>Labels Jul 2023 – Jun 2024; 80/20 split, grouped by customer</a:t>
            </a:r>
            <a:endParaRPr lang="en-US" sz="1400" dirty="0"/>
          </a:p>
        </p:txBody>
      </p:sp>
      <p:sp>
        <p:nvSpPr>
          <p:cNvPr id="8" name="text59"/>
          <p:cNvSpPr txBox="1"/>
          <p:nvPr/>
        </p:nvSpPr>
        <p:spPr>
          <a:xfrm>
            <a:off x="4206240" y="2377440"/>
            <a:ext cx="2743200" cy="640080"/>
          </a:xfrm>
          <a:prstGeom prst="rect">
            <a:avLst/>
          </a:prstGeom>
          <a:noFill/>
          <a:ln/>
        </p:spPr>
        <p:txBody>
          <a:bodyPr wrap="square" lIns="0" tIns="0" rIns="0" bIns="0" rtlCol="0" anchor="t"/>
          <a:lstStyle/>
          <a:p>
            <a:pPr marL="0" indent="0" algn="r">
              <a:buNone/>
            </a:pPr>
            <a:r>
              <a:rPr lang="en-US" sz="1400" dirty="0">
                <a:solidFill>
                  <a:schemeClr val="tx1"/>
                </a:solidFill>
              </a:rPr>
              <a:t>OOT labels Jul – Aug 2024; model date 1 Sep 2024</a:t>
            </a:r>
            <a:endParaRPr lang="en-US" sz="1400" dirty="0"/>
          </a:p>
        </p:txBody>
      </p:sp>
      <p:sp>
        <p:nvSpPr>
          <p:cNvPr id="9" name="card60"/>
          <p:cNvSpPr/>
          <p:nvPr/>
        </p:nvSpPr>
        <p:spPr>
          <a:xfrm>
            <a:off x="548640" y="3246120"/>
            <a:ext cx="6400800" cy="3017520"/>
          </a:xfrm>
          <a:prstGeom prst="roundRect">
            <a:avLst>
              <a:gd name="adj" fmla="val 3030"/>
            </a:avLst>
          </a:prstGeom>
          <a:solidFill>
            <a:schemeClr val="bg2"/>
          </a:solidFill>
          <a:ln/>
        </p:spPr>
        <p:txBody>
          <a:bodyPr/>
          <a:lstStyle/>
          <a:p>
            <a:endParaRPr lang="en-SG"/>
          </a:p>
        </p:txBody>
      </p:sp>
      <p:sp>
        <p:nvSpPr>
          <p:cNvPr id="10" name="text61"/>
          <p:cNvSpPr txBox="1"/>
          <p:nvPr/>
        </p:nvSpPr>
        <p:spPr>
          <a:xfrm>
            <a:off x="777240" y="3383280"/>
            <a:ext cx="5943600" cy="3657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Preprocessing and tuning</a:t>
            </a:r>
            <a:endParaRPr lang="en-US" sz="1400" dirty="0"/>
          </a:p>
        </p:txBody>
      </p:sp>
      <p:sp>
        <p:nvSpPr>
          <p:cNvPr id="11" name="text62"/>
          <p:cNvSpPr txBox="1"/>
          <p:nvPr/>
        </p:nvSpPr>
        <p:spPr>
          <a:xfrm>
            <a:off x="777240" y="3840480"/>
            <a:ext cx="59436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Numbers scaled and categories one-hot encoded, fitted on training data only</a:t>
            </a:r>
            <a:endParaRPr lang="en-US" sz="1400" dirty="0"/>
          </a:p>
          <a:p>
            <a:pPr marL="342900" indent="-342900">
              <a:spcAft>
                <a:spcPts val="600"/>
              </a:spcAft>
              <a:buSzPct val="100000"/>
              <a:buChar char="•"/>
            </a:pPr>
            <a:r>
              <a:rPr lang="en-US" sz="1400" dirty="0">
                <a:solidFill>
                  <a:schemeClr val="tx1"/>
                </a:solidFill>
              </a:rPr>
              <a:t>Search: 10 random hyperparameter draws × 3 customer-grouped folds, scored by AUC</a:t>
            </a:r>
            <a:endParaRPr lang="en-US" sz="1400" dirty="0"/>
          </a:p>
          <a:p>
            <a:pPr marL="342900" indent="-342900">
              <a:spcAft>
                <a:spcPts val="600"/>
              </a:spcAft>
              <a:buSzPct val="100000"/>
              <a:buChar char="•"/>
            </a:pPr>
            <a:r>
              <a:rPr lang="en-US" sz="1400" dirty="0">
                <a:solidFill>
                  <a:schemeClr val="tx1"/>
                </a:solidFill>
              </a:rPr>
              <a:t>L1/L2 penalties keep the model simple</a:t>
            </a:r>
            <a:endParaRPr lang="en-US" sz="1400" dirty="0"/>
          </a:p>
          <a:p>
            <a:pPr marL="342900" indent="-342900">
              <a:spcAft>
                <a:spcPts val="600"/>
              </a:spcAft>
              <a:buSzPct val="100000"/>
              <a:buChar char="•"/>
            </a:pPr>
            <a:r>
              <a:rPr lang="en-US" sz="1400" dirty="0">
                <a:solidFill>
                  <a:schemeClr val="tx1"/>
                </a:solidFill>
              </a:rPr>
              <a:t>Best model is saved with its OOT results and monitoring reference</a:t>
            </a:r>
            <a:endParaRPr lang="en-US" sz="1400" dirty="0"/>
          </a:p>
        </p:txBody>
      </p:sp>
      <p:sp>
        <p:nvSpPr>
          <p:cNvPr id="12" name="card63"/>
          <p:cNvSpPr/>
          <p:nvPr/>
        </p:nvSpPr>
        <p:spPr>
          <a:xfrm>
            <a:off x="7223760" y="1554480"/>
            <a:ext cx="4389120" cy="1645920"/>
          </a:xfrm>
          <a:prstGeom prst="roundRect">
            <a:avLst>
              <a:gd name="adj" fmla="val 5556"/>
            </a:avLst>
          </a:prstGeom>
          <a:solidFill>
            <a:schemeClr val="tx2"/>
          </a:solidFill>
          <a:ln/>
        </p:spPr>
        <p:txBody>
          <a:bodyPr/>
          <a:lstStyle/>
          <a:p>
            <a:endParaRPr lang="en-SG"/>
          </a:p>
        </p:txBody>
      </p:sp>
      <p:sp>
        <p:nvSpPr>
          <p:cNvPr id="13" name="text64"/>
          <p:cNvSpPr txBox="1"/>
          <p:nvPr/>
        </p:nvSpPr>
        <p:spPr>
          <a:xfrm>
            <a:off x="7452360" y="1645920"/>
            <a:ext cx="3931920" cy="822960"/>
          </a:xfrm>
          <a:prstGeom prst="rect">
            <a:avLst/>
          </a:prstGeom>
          <a:noFill/>
          <a:ln/>
        </p:spPr>
        <p:txBody>
          <a:bodyPr wrap="square" lIns="0" tIns="0" rIns="0" bIns="0" rtlCol="0" anchor="ctr"/>
          <a:lstStyle/>
          <a:p>
            <a:pPr marL="0" indent="0">
              <a:buNone/>
            </a:pPr>
            <a:r>
              <a:rPr lang="en-US" sz="4800" b="1" dirty="0">
                <a:solidFill>
                  <a:schemeClr val="accent5"/>
                </a:solidFill>
              </a:rPr>
              <a:t>0.860</a:t>
            </a:r>
            <a:endParaRPr lang="en-US" sz="4800" dirty="0"/>
          </a:p>
        </p:txBody>
      </p:sp>
      <p:sp>
        <p:nvSpPr>
          <p:cNvPr id="14" name="text65"/>
          <p:cNvSpPr txBox="1"/>
          <p:nvPr/>
        </p:nvSpPr>
        <p:spPr>
          <a:xfrm>
            <a:off x="7452360" y="2514600"/>
            <a:ext cx="3931920" cy="548640"/>
          </a:xfrm>
          <a:prstGeom prst="rect">
            <a:avLst/>
          </a:prstGeom>
          <a:noFill/>
          <a:ln/>
        </p:spPr>
        <p:txBody>
          <a:bodyPr wrap="square" lIns="0" tIns="0" rIns="0" bIns="0" rtlCol="0" anchor="t"/>
          <a:lstStyle/>
          <a:p>
            <a:pPr marL="0" indent="0">
              <a:buNone/>
            </a:pPr>
            <a:r>
              <a:rPr lang="en-US" sz="1400" dirty="0">
                <a:solidFill>
                  <a:schemeClr val="bg1"/>
                </a:solidFill>
              </a:rPr>
              <a:t>AUC on the out-of-time window (Gini 0.72)</a:t>
            </a:r>
            <a:endParaRPr lang="en-US" sz="1400" dirty="0"/>
          </a:p>
        </p:txBody>
      </p:sp>
      <p:sp>
        <p:nvSpPr>
          <p:cNvPr id="15" name="card66"/>
          <p:cNvSpPr/>
          <p:nvPr/>
        </p:nvSpPr>
        <p:spPr>
          <a:xfrm>
            <a:off x="7223760" y="3383280"/>
            <a:ext cx="4389120" cy="2880360"/>
          </a:xfrm>
          <a:prstGeom prst="roundRect">
            <a:avLst>
              <a:gd name="adj" fmla="val 3175"/>
            </a:avLst>
          </a:prstGeom>
          <a:solidFill>
            <a:schemeClr val="bg2"/>
          </a:solidFill>
          <a:ln/>
        </p:spPr>
        <p:txBody>
          <a:bodyPr/>
          <a:lstStyle/>
          <a:p>
            <a:endParaRPr lang="en-SG"/>
          </a:p>
        </p:txBody>
      </p:sp>
      <p:sp>
        <p:nvSpPr>
          <p:cNvPr id="16" name="text67"/>
          <p:cNvSpPr txBox="1"/>
          <p:nvPr/>
        </p:nvSpPr>
        <p:spPr>
          <a:xfrm>
            <a:off x="7452360" y="3520440"/>
            <a:ext cx="3931920" cy="36576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Why XGBoost</a:t>
            </a:r>
            <a:endParaRPr lang="en-US" sz="1400" dirty="0"/>
          </a:p>
        </p:txBody>
      </p:sp>
      <p:sp>
        <p:nvSpPr>
          <p:cNvPr id="17" name="text68"/>
          <p:cNvSpPr txBox="1"/>
          <p:nvPr/>
        </p:nvSpPr>
        <p:spPr>
          <a:xfrm>
            <a:off x="7452360" y="3977640"/>
            <a:ext cx="39319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Captures non-linear risk interactions</a:t>
            </a:r>
            <a:endParaRPr lang="en-US" sz="1400" dirty="0"/>
          </a:p>
          <a:p>
            <a:pPr marL="342900" indent="-342900">
              <a:spcAft>
                <a:spcPts val="600"/>
              </a:spcAft>
              <a:buSzPct val="100000"/>
              <a:buChar char="•"/>
            </a:pPr>
            <a:r>
              <a:rPr lang="en-US" sz="1400" dirty="0">
                <a:solidFill>
                  <a:schemeClr val="tx1"/>
                </a:solidFill>
              </a:rPr>
              <a:t>Handles numeric and categorical inputs together</a:t>
            </a:r>
            <a:endParaRPr lang="en-US" sz="1400" dirty="0"/>
          </a:p>
          <a:p>
            <a:pPr marL="342900" indent="-342900">
              <a:spcAft>
                <a:spcPts val="600"/>
              </a:spcAft>
              <a:buSzPct val="100000"/>
              <a:buChar char="•"/>
            </a:pPr>
            <a:r>
              <a:rPr lang="en-US" sz="1400" dirty="0">
                <a:solidFill>
                  <a:schemeClr val="tx1"/>
                </a:solidFill>
              </a:rPr>
              <a:t>Small and fast enough to retrain monthly</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Every month’s new loans are scored by stored models and written to a gold predictions table</a:t>
            </a:r>
            <a:endParaRPr lang="en-US" sz="2800" dirty="0"/>
          </a:p>
        </p:txBody>
      </p:sp>
      <p:sp>
        <p:nvSpPr>
          <p:cNvPr id="3" name="card70"/>
          <p:cNvSpPr/>
          <p:nvPr/>
        </p:nvSpPr>
        <p:spPr>
          <a:xfrm>
            <a:off x="548640" y="1508760"/>
            <a:ext cx="5394960" cy="3246120"/>
          </a:xfrm>
          <a:prstGeom prst="roundRect">
            <a:avLst>
              <a:gd name="adj" fmla="val 2817"/>
            </a:avLst>
          </a:prstGeom>
          <a:solidFill>
            <a:schemeClr val="bg2"/>
          </a:solidFill>
          <a:ln/>
        </p:spPr>
        <p:txBody>
          <a:bodyPr/>
          <a:lstStyle/>
          <a:p>
            <a:endParaRPr lang="en-SG"/>
          </a:p>
        </p:txBody>
      </p:sp>
      <p:sp>
        <p:nvSpPr>
          <p:cNvPr id="4" name="text71"/>
          <p:cNvSpPr txBox="1"/>
          <p:nvPr/>
        </p:nvSpPr>
        <p:spPr>
          <a:xfrm>
            <a:off x="777240" y="1645920"/>
            <a:ext cx="4937760" cy="36576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Model artefact (one file per training date)</a:t>
            </a:r>
            <a:endParaRPr lang="en-US" sz="1600" dirty="0"/>
          </a:p>
        </p:txBody>
      </p:sp>
      <p:sp>
        <p:nvSpPr>
          <p:cNvPr id="5" name="text72"/>
          <p:cNvSpPr txBox="1"/>
          <p:nvPr/>
        </p:nvSpPr>
        <p:spPr>
          <a:xfrm>
            <a:off x="777240" y="2103120"/>
            <a:ext cx="493776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Fitted model and its preprocessor</a:t>
            </a:r>
            <a:endParaRPr lang="en-US" sz="1600" dirty="0"/>
          </a:p>
          <a:p>
            <a:pPr marL="342900" indent="-342900">
              <a:spcAft>
                <a:spcPts val="600"/>
              </a:spcAft>
              <a:buSzPct val="100000"/>
              <a:buChar char="•"/>
            </a:pPr>
            <a:r>
              <a:rPr lang="en-US" sz="1600" dirty="0">
                <a:solidFill>
                  <a:schemeClr val="tx1"/>
                </a:solidFill>
              </a:rPr>
              <a:t>Feature list and train, test and OOT dates</a:t>
            </a:r>
            <a:endParaRPr lang="en-US" sz="1600" dirty="0"/>
          </a:p>
          <a:p>
            <a:pPr marL="342900" indent="-342900">
              <a:spcAft>
                <a:spcPts val="600"/>
              </a:spcAft>
              <a:buSzPct val="100000"/>
              <a:buChar char="•"/>
            </a:pPr>
            <a:r>
              <a:rPr lang="en-US" sz="1600" dirty="0">
                <a:solidFill>
                  <a:schemeClr val="tx1"/>
                </a:solidFill>
              </a:rPr>
              <a:t>Hyperparameters, AUC and Gini per split</a:t>
            </a:r>
            <a:endParaRPr lang="en-US" sz="1600" dirty="0"/>
          </a:p>
          <a:p>
            <a:pPr marL="342900" indent="-342900">
              <a:spcAft>
                <a:spcPts val="600"/>
              </a:spcAft>
              <a:buSzPct val="100000"/>
              <a:buChar char="•"/>
            </a:pPr>
            <a:r>
              <a:rPr lang="en-US" sz="1600" dirty="0">
                <a:solidFill>
                  <a:schemeClr val="tx1"/>
                </a:solidFill>
              </a:rPr>
              <a:t>Reference distributions for monitoring: feature bins, score bins, OOT ROC</a:t>
            </a:r>
            <a:endParaRPr lang="en-US" sz="1600" dirty="0"/>
          </a:p>
        </p:txBody>
      </p:sp>
      <p:sp>
        <p:nvSpPr>
          <p:cNvPr id="6" name="card73"/>
          <p:cNvSpPr/>
          <p:nvPr/>
        </p:nvSpPr>
        <p:spPr>
          <a:xfrm>
            <a:off x="6217920" y="1508760"/>
            <a:ext cx="5394960" cy="3246120"/>
          </a:xfrm>
          <a:prstGeom prst="roundRect">
            <a:avLst>
              <a:gd name="adj" fmla="val 2817"/>
            </a:avLst>
          </a:prstGeom>
          <a:solidFill>
            <a:schemeClr val="bg2"/>
          </a:solidFill>
          <a:ln/>
        </p:spPr>
        <p:txBody>
          <a:bodyPr/>
          <a:lstStyle/>
          <a:p>
            <a:endParaRPr lang="en-SG"/>
          </a:p>
        </p:txBody>
      </p:sp>
      <p:sp>
        <p:nvSpPr>
          <p:cNvPr id="7" name="text74"/>
          <p:cNvSpPr txBox="1"/>
          <p:nvPr/>
        </p:nvSpPr>
        <p:spPr>
          <a:xfrm>
            <a:off x="6446520" y="1645920"/>
            <a:ext cx="4937760" cy="36576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Predictions gold table</a:t>
            </a:r>
            <a:endParaRPr lang="en-US" sz="1600" dirty="0"/>
          </a:p>
        </p:txBody>
      </p:sp>
      <p:sp>
        <p:nvSpPr>
          <p:cNvPr id="8" name="text75"/>
          <p:cNvSpPr txBox="1"/>
          <p:nvPr/>
        </p:nvSpPr>
        <p:spPr>
          <a:xfrm>
            <a:off x="6446520" y="2103120"/>
            <a:ext cx="4937760" cy="54864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datamart/gold/model_predictions/&lt;model&gt;/&lt;model&gt;_predictions_&lt;snapshot&gt;.parquet</a:t>
            </a:r>
            <a:endParaRPr lang="en-US" sz="1200" dirty="0"/>
          </a:p>
        </p:txBody>
      </p:sp>
      <p:sp>
        <p:nvSpPr>
          <p:cNvPr id="9" name="text76"/>
          <p:cNvSpPr txBox="1"/>
          <p:nvPr/>
        </p:nvSpPr>
        <p:spPr>
          <a:xfrm>
            <a:off x="6446520" y="283464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loan_id, Customer_ID, snapshot_date</a:t>
            </a:r>
            <a:endParaRPr lang="en-US" sz="1600" dirty="0"/>
          </a:p>
          <a:p>
            <a:pPr marL="342900" indent="-342900">
              <a:spcAft>
                <a:spcPts val="600"/>
              </a:spcAft>
              <a:buSzPct val="100000"/>
              <a:buChar char="•"/>
            </a:pPr>
            <a:r>
              <a:rPr lang="en-US" sz="1600" dirty="0">
                <a:solidFill>
                  <a:schemeClr val="tx1"/>
                </a:solidFill>
              </a:rPr>
              <a:t>model_name and model_predictions (probability of default)</a:t>
            </a:r>
            <a:endParaRPr lang="en-US" sz="1600" dirty="0"/>
          </a:p>
          <a:p>
            <a:pPr marL="342900" indent="-342900">
              <a:spcAft>
                <a:spcPts val="600"/>
              </a:spcAft>
              <a:buSzPct val="100000"/>
              <a:buChar char="•"/>
            </a:pPr>
            <a:r>
              <a:rPr lang="en-US" sz="1600" dirty="0">
                <a:solidFill>
                  <a:schemeClr val="tx1"/>
                </a:solidFill>
              </a:rPr>
              <a:t>One partition per model per month; reruns overwrite only their own</a:t>
            </a:r>
            <a:endParaRPr lang="en-US" sz="1600" dirty="0"/>
          </a:p>
        </p:txBody>
      </p:sp>
      <p:sp>
        <p:nvSpPr>
          <p:cNvPr id="10" name="card77"/>
          <p:cNvSpPr/>
          <p:nvPr/>
        </p:nvSpPr>
        <p:spPr>
          <a:xfrm>
            <a:off x="548640" y="4983480"/>
            <a:ext cx="11064240" cy="1280160"/>
          </a:xfrm>
          <a:prstGeom prst="roundRect">
            <a:avLst>
              <a:gd name="adj" fmla="val 7143"/>
            </a:avLst>
          </a:prstGeom>
          <a:solidFill>
            <a:schemeClr val="tx2"/>
          </a:solidFill>
          <a:ln/>
        </p:spPr>
        <p:txBody>
          <a:bodyPr/>
          <a:lstStyle/>
          <a:p>
            <a:endParaRPr lang="en-SG"/>
          </a:p>
        </p:txBody>
      </p:sp>
      <p:sp>
        <p:nvSpPr>
          <p:cNvPr id="11" name="text78"/>
          <p:cNvSpPr txBox="1"/>
          <p:nvPr/>
        </p:nvSpPr>
        <p:spPr>
          <a:xfrm>
            <a:off x="777240" y="5120640"/>
            <a:ext cx="10607040" cy="1051560"/>
          </a:xfrm>
          <a:prstGeom prst="rect">
            <a:avLst/>
          </a:prstGeom>
          <a:noFill/>
          <a:ln/>
        </p:spPr>
        <p:txBody>
          <a:bodyPr wrap="square" lIns="0" tIns="0" rIns="0" bIns="0" rtlCol="0" anchor="t"/>
          <a:lstStyle/>
          <a:p>
            <a:pPr marL="0" indent="0">
              <a:spcAft>
                <a:spcPts val="400"/>
              </a:spcAft>
              <a:buNone/>
            </a:pPr>
            <a:r>
              <a:rPr lang="en-US" sz="1800" b="1" dirty="0">
                <a:solidFill>
                  <a:schemeClr val="accent5"/>
                </a:solidFill>
              </a:rPr>
              <a:t>Scoring rule</a:t>
            </a:r>
            <a:endParaRPr lang="en-US" sz="1600" dirty="0"/>
          </a:p>
          <a:p>
            <a:pPr marL="0" indent="0">
              <a:buNone/>
            </a:pPr>
            <a:r>
              <a:rPr lang="en-US" sz="1600" dirty="0">
                <a:solidFill>
                  <a:schemeClr val="bg1"/>
                </a:solidFill>
              </a:rPr>
              <a:t>Each month scores the loans originated that month with every model trained before it. A model trained in the same run scores its own month only after training finishes, so no job reads a half-written artefact.</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Even with clickstream inputs missing, AUC holds near 0.80 on unseen loans, below the 0.86 reference</a:t>
            </a:r>
            <a:endParaRPr lang="en-US" sz="2800" dirty="0"/>
          </a:p>
        </p:txBody>
      </p:sp>
      <p:pic>
        <p:nvPicPr>
          <p:cNvPr id="3" name="img79" descr="Line chart of observed AUC by monitoring snapshot against the 0.860 reference"/>
          <p:cNvPicPr>
            <a:picLocks noChangeAspect="1"/>
          </p:cNvPicPr>
          <p:nvPr/>
        </p:nvPicPr>
        <p:blipFill>
          <a:blip r:embed="rId3"/>
          <a:stretch>
            <a:fillRect/>
          </a:stretch>
        </p:blipFill>
        <p:spPr>
          <a:xfrm>
            <a:off x="619760" y="1508760"/>
            <a:ext cx="5527040" cy="3108960"/>
          </a:xfrm>
          <a:prstGeom prst="rect">
            <a:avLst/>
          </a:prstGeom>
        </p:spPr>
      </p:pic>
      <p:sp>
        <p:nvSpPr>
          <p:cNvPr id="4" name="text80"/>
          <p:cNvSpPr txBox="1"/>
          <p:nvPr/>
        </p:nvSpPr>
        <p:spPr>
          <a:xfrm>
            <a:off x="548640" y="4754880"/>
            <a:ext cx="566928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AUC: chance a defaulting loan is scored above a good one </a:t>
            </a:r>
          </a:p>
          <a:p>
            <a:pPr marL="342900" indent="-342900">
              <a:spcAft>
                <a:spcPts val="600"/>
              </a:spcAft>
              <a:buSzPct val="100000"/>
              <a:buChar char="•"/>
            </a:pPr>
            <a:r>
              <a:rPr lang="en-US" sz="1400" dirty="0">
                <a:solidFill>
                  <a:schemeClr val="tx1"/>
                </a:solidFill>
              </a:rPr>
              <a:t>Four unseen cohorts score about 0.79–0.81 against 0.860, with no downward trend; the missing inputs may explain part of the gap</a:t>
            </a:r>
            <a:endParaRPr lang="en-US" sz="1400" dirty="0"/>
          </a:p>
          <a:p>
            <a:pPr marL="342900" indent="-342900">
              <a:spcAft>
                <a:spcPts val="600"/>
              </a:spcAft>
              <a:buSzPct val="100000"/>
              <a:buChar char="•"/>
            </a:pPr>
            <a:r>
              <a:rPr lang="en-US" sz="1400" dirty="0">
                <a:solidFill>
                  <a:schemeClr val="tx1"/>
                </a:solidFill>
              </a:rPr>
              <a:t>Deployed ROC curves sit mostly below the reference curve</a:t>
            </a:r>
            <a:endParaRPr lang="en-US" sz="1400" dirty="0"/>
          </a:p>
        </p:txBody>
      </p:sp>
      <p:pic>
        <p:nvPicPr>
          <p:cNvPr id="5" name="img81" descr="ROC curves of four deployed cohorts against the OOT reference"/>
          <p:cNvPicPr>
            <a:picLocks noChangeAspect="1"/>
          </p:cNvPicPr>
          <p:nvPr/>
        </p:nvPicPr>
        <p:blipFill>
          <a:blip r:embed="rId4"/>
          <a:stretch>
            <a:fillRect/>
          </a:stretch>
        </p:blipFill>
        <p:spPr>
          <a:xfrm>
            <a:off x="6492240" y="1691640"/>
            <a:ext cx="5120640" cy="4389120"/>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A data feed fault, not model drift, explains the score PSI: clickstream features are empty for new loans</a:t>
            </a:r>
            <a:endParaRPr lang="en-US" sz="2800" dirty="0"/>
          </a:p>
        </p:txBody>
      </p:sp>
      <p:pic>
        <p:nvPicPr>
          <p:cNvPr id="3" name="img82" descr="Score PSI and max feature CSI by snapshot with 0.1 and 0.25 thresholds"/>
          <p:cNvPicPr>
            <a:picLocks noChangeAspect="1"/>
          </p:cNvPicPr>
          <p:nvPr/>
        </p:nvPicPr>
        <p:blipFill>
          <a:blip r:embed="rId3"/>
          <a:stretch>
            <a:fillRect/>
          </a:stretch>
        </p:blipFill>
        <p:spPr>
          <a:xfrm>
            <a:off x="721360" y="1508760"/>
            <a:ext cx="5689600" cy="3200400"/>
          </a:xfrm>
          <a:prstGeom prst="rect">
            <a:avLst/>
          </a:prstGeom>
        </p:spPr>
      </p:pic>
      <p:sp>
        <p:nvSpPr>
          <p:cNvPr id="4" name="text83"/>
          <p:cNvSpPr txBox="1"/>
          <p:nvPr/>
        </p:nvSpPr>
        <p:spPr>
          <a:xfrm>
            <a:off x="548640" y="4800600"/>
            <a:ext cx="603504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PSI (score shift) and CSI (feature shift): below 0.10 stable, 0.10–0.25 watch, above 0.25 act</a:t>
            </a:r>
            <a:endParaRPr lang="en-US" sz="1400" dirty="0"/>
          </a:p>
          <a:p>
            <a:pPr marL="342900" indent="-342900">
              <a:spcAft>
                <a:spcPts val="600"/>
              </a:spcAft>
              <a:buSzPct val="100000"/>
              <a:buChar char="•"/>
            </a:pPr>
            <a:r>
              <a:rPr lang="en-US" sz="1400" dirty="0">
                <a:solidFill>
                  <a:schemeClr val="tx1"/>
                </a:solidFill>
              </a:rPr>
              <a:t>The top 20 features by CSI are all clickstream features; the 22 empty ones now read the maximum CSI (10) every month</a:t>
            </a:r>
            <a:endParaRPr lang="en-US" sz="1400" dirty="0"/>
          </a:p>
          <a:p>
            <a:pPr marL="342900" indent="-342900">
              <a:spcAft>
                <a:spcPts val="600"/>
              </a:spcAft>
              <a:buSzPct val="100000"/>
              <a:buChar char="•"/>
            </a:pPr>
            <a:r>
              <a:rPr lang="en-US" sz="1400" dirty="0">
                <a:solidFill>
                  <a:schemeClr val="tx1"/>
                </a:solidFill>
              </a:rPr>
              <a:t>Score PSI vs training (3.8–4.0) is driven by those nulls; month-on-month PSI stays low because the fault is constant</a:t>
            </a:r>
            <a:endParaRPr lang="en-US" sz="1400" dirty="0"/>
          </a:p>
        </p:txBody>
      </p:sp>
      <p:pic>
        <p:nvPicPr>
          <p:cNvPr id="5" name="img84" descr="Heatmap of feature CSI by month for the top 20 features"/>
          <p:cNvPicPr>
            <a:picLocks noChangeAspect="1"/>
          </p:cNvPicPr>
          <p:nvPr/>
        </p:nvPicPr>
        <p:blipFill>
          <a:blip r:embed="rId4"/>
          <a:stretch>
            <a:fillRect/>
          </a:stretch>
        </p:blipFill>
        <p:spPr>
          <a:xfrm>
            <a:off x="7439451" y="1417320"/>
            <a:ext cx="3683418" cy="4892040"/>
          </a:xfrm>
          <a:prstGeom prst="rect">
            <a:avLst/>
          </a:prstGeom>
        </p:spPr>
      </p:pic>
      <p:sp>
        <p:nvSpPr>
          <p:cNvPr id="6" name="text85"/>
          <p:cNvSpPr txBox="1"/>
          <p:nvPr/>
        </p:nvSpPr>
        <p:spPr>
          <a:xfrm>
            <a:off x="6949440" y="6309360"/>
            <a:ext cx="4663440" cy="182880"/>
          </a:xfrm>
          <a:prstGeom prst="rect">
            <a:avLst/>
          </a:prstGeom>
          <a:noFill/>
          <a:ln/>
        </p:spPr>
        <p:txBody>
          <a:bodyPr wrap="square" lIns="0" tIns="0" rIns="0" bIns="0" rtlCol="0" anchor="t"/>
          <a:lstStyle/>
          <a:p>
            <a:pPr marL="0" indent="0" algn="ctr">
              <a:buNone/>
            </a:pPr>
            <a:r>
              <a:rPr lang="en-US" sz="1000" dirty="0">
                <a:solidFill>
                  <a:schemeClr val="accent1"/>
                </a:solidFill>
              </a:rPr>
              <a:t>Colour scale clipped at 0.25; empty clickstream features plot at the top</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Draft SOP: monthly traffic-light checks decide when to investigate, retrain or roll back</a:t>
            </a:r>
            <a:endParaRPr lang="en-US" sz="2800" dirty="0"/>
          </a:p>
        </p:txBody>
      </p:sp>
      <p:graphicFrame>
        <p:nvGraphicFramePr>
          <p:cNvPr id="10" name="sop_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2286000"/>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457200">
                <a:tc>
                  <a:txBody>
                    <a:bodyPr/>
                    <a:lstStyle/>
                    <a:p>
                      <a:pPr marL="0" indent="0">
                        <a:buNone/>
                      </a:pPr>
                      <a:r>
                        <a:rPr lang="en-US" sz="1400" b="1" dirty="0">
                          <a:solidFill>
                            <a:schemeClr val="bg1"/>
                          </a:solidFill>
                        </a:rPr>
                        <a:t>Signal</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Green: no action</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tx1"/>
                          </a:solidFill>
                        </a:rPr>
                        <a:t>Amber: investigate</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rPr>
                        <a:t>Red: retrain or roll back</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AUC vs 0.860 reference*</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Within 0.03</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0.03–0.08 below</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More than 0.08 below</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Max feature CSI</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Below 0.10</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0.10–0.25</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Above 0.25</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Score PSI vs last month</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Below 0.10</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0.10–0.25</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Above 0.25</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Missing-rate rise vs training</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Under 0.5</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n/a</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Above 0.5: pause scoring, fix feed</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card87"/>
          <p:cNvSpPr/>
          <p:nvPr/>
        </p:nvSpPr>
        <p:spPr>
          <a:xfrm>
            <a:off x="548640" y="4526280"/>
            <a:ext cx="2103120" cy="1737360"/>
          </a:xfrm>
          <a:prstGeom prst="roundRect">
            <a:avLst>
              <a:gd name="adj" fmla="val 5263"/>
            </a:avLst>
          </a:prstGeom>
          <a:solidFill>
            <a:schemeClr val="accent1"/>
          </a:solidFill>
          <a:ln/>
        </p:spPr>
        <p:txBody>
          <a:bodyPr/>
          <a:lstStyle/>
          <a:p>
            <a:endParaRPr lang="en-SG"/>
          </a:p>
        </p:txBody>
      </p:sp>
      <p:sp>
        <p:nvSpPr>
          <p:cNvPr id="6" name="text88"/>
          <p:cNvSpPr txBox="1"/>
          <p:nvPr/>
        </p:nvSpPr>
        <p:spPr>
          <a:xfrm>
            <a:off x="685800" y="4663440"/>
            <a:ext cx="1828800" cy="146304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1 Detect</a:t>
            </a:r>
            <a:endParaRPr lang="en-US" sz="1600" dirty="0"/>
          </a:p>
          <a:p>
            <a:pPr marL="0" indent="0">
              <a:buNone/>
            </a:pPr>
            <a:r>
              <a:rPr lang="en-US" sz="1600" dirty="0">
                <a:solidFill>
                  <a:schemeClr val="bg1"/>
                </a:solidFill>
              </a:rPr>
              <a:t>Monthly DAG writes metrics and plots</a:t>
            </a:r>
            <a:endParaRPr lang="en-US" sz="1600" dirty="0"/>
          </a:p>
        </p:txBody>
      </p:sp>
      <p:sp>
        <p:nvSpPr>
          <p:cNvPr id="7" name="card89"/>
          <p:cNvSpPr/>
          <p:nvPr/>
        </p:nvSpPr>
        <p:spPr>
          <a:xfrm>
            <a:off x="2788920" y="4526280"/>
            <a:ext cx="2103120" cy="1737360"/>
          </a:xfrm>
          <a:prstGeom prst="roundRect">
            <a:avLst>
              <a:gd name="adj" fmla="val 5263"/>
            </a:avLst>
          </a:prstGeom>
          <a:solidFill>
            <a:schemeClr val="accent1"/>
          </a:solidFill>
          <a:ln/>
        </p:spPr>
        <p:txBody>
          <a:bodyPr/>
          <a:lstStyle/>
          <a:p>
            <a:endParaRPr lang="en-SG"/>
          </a:p>
        </p:txBody>
      </p:sp>
      <p:sp>
        <p:nvSpPr>
          <p:cNvPr id="8" name="text90"/>
          <p:cNvSpPr txBox="1"/>
          <p:nvPr/>
        </p:nvSpPr>
        <p:spPr>
          <a:xfrm>
            <a:off x="2926080" y="4663440"/>
            <a:ext cx="1828800" cy="146304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2 Triage</a:t>
            </a:r>
            <a:endParaRPr lang="en-US" sz="1600" dirty="0"/>
          </a:p>
          <a:p>
            <a:pPr marL="0" indent="0">
              <a:buNone/>
            </a:pPr>
            <a:r>
              <a:rPr lang="en-US" sz="1600" dirty="0">
                <a:solidFill>
                  <a:schemeClr val="bg1"/>
                </a:solidFill>
              </a:rPr>
              <a:t>Owner decides: data fault or real drift (5 days)</a:t>
            </a:r>
            <a:endParaRPr lang="en-US" sz="1600" dirty="0"/>
          </a:p>
        </p:txBody>
      </p:sp>
      <p:sp>
        <p:nvSpPr>
          <p:cNvPr id="9" name="card91"/>
          <p:cNvSpPr/>
          <p:nvPr/>
        </p:nvSpPr>
        <p:spPr>
          <a:xfrm>
            <a:off x="5029200" y="4526280"/>
            <a:ext cx="2103120" cy="1737360"/>
          </a:xfrm>
          <a:prstGeom prst="roundRect">
            <a:avLst>
              <a:gd name="adj" fmla="val 5263"/>
            </a:avLst>
          </a:prstGeom>
          <a:solidFill>
            <a:schemeClr val="accent1"/>
          </a:solidFill>
          <a:ln/>
        </p:spPr>
        <p:txBody>
          <a:bodyPr/>
          <a:lstStyle/>
          <a:p>
            <a:endParaRPr lang="en-SG"/>
          </a:p>
        </p:txBody>
      </p:sp>
      <p:sp>
        <p:nvSpPr>
          <p:cNvPr id="3" name="text92"/>
          <p:cNvSpPr txBox="1"/>
          <p:nvPr/>
        </p:nvSpPr>
        <p:spPr>
          <a:xfrm>
            <a:off x="5166360" y="4663440"/>
            <a:ext cx="1828800" cy="146304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3 Retrain</a:t>
            </a:r>
            <a:endParaRPr lang="en-US" sz="1600" dirty="0"/>
          </a:p>
          <a:p>
            <a:pPr marL="0" indent="0">
              <a:buNone/>
            </a:pPr>
            <a:r>
              <a:rPr lang="en-US" sz="1600" dirty="0">
                <a:solidFill>
                  <a:schemeClr val="bg1"/>
                </a:solidFill>
              </a:rPr>
              <a:t>Train a challenger on a fresh 12 + 2 month window</a:t>
            </a:r>
            <a:endParaRPr lang="en-US" sz="1600" dirty="0"/>
          </a:p>
        </p:txBody>
      </p:sp>
      <p:sp>
        <p:nvSpPr>
          <p:cNvPr id="11" name="card93"/>
          <p:cNvSpPr/>
          <p:nvPr/>
        </p:nvSpPr>
        <p:spPr>
          <a:xfrm>
            <a:off x="7269480" y="4526280"/>
            <a:ext cx="2103120" cy="1737360"/>
          </a:xfrm>
          <a:prstGeom prst="roundRect">
            <a:avLst>
              <a:gd name="adj" fmla="val 5263"/>
            </a:avLst>
          </a:prstGeom>
          <a:solidFill>
            <a:schemeClr val="accent1"/>
          </a:solidFill>
          <a:ln/>
        </p:spPr>
        <p:txBody>
          <a:bodyPr/>
          <a:lstStyle/>
          <a:p>
            <a:endParaRPr lang="en-SG"/>
          </a:p>
        </p:txBody>
      </p:sp>
      <p:sp>
        <p:nvSpPr>
          <p:cNvPr id="12" name="text94"/>
          <p:cNvSpPr txBox="1"/>
          <p:nvPr/>
        </p:nvSpPr>
        <p:spPr>
          <a:xfrm>
            <a:off x="7406640" y="4663440"/>
            <a:ext cx="1828800" cy="146304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4 Validate</a:t>
            </a:r>
            <a:endParaRPr lang="en-US" sz="1600" dirty="0"/>
          </a:p>
          <a:p>
            <a:pPr marL="0" indent="0">
              <a:buNone/>
            </a:pPr>
            <a:r>
              <a:rPr lang="en-US" sz="1600" dirty="0">
                <a:solidFill>
                  <a:schemeClr val="bg1"/>
                </a:solidFill>
              </a:rPr>
              <a:t>Shadow-score challenger; AUC ≥ champion once labels mature</a:t>
            </a:r>
            <a:endParaRPr lang="en-US" sz="1600" dirty="0"/>
          </a:p>
        </p:txBody>
      </p:sp>
      <p:sp>
        <p:nvSpPr>
          <p:cNvPr id="13" name="card95"/>
          <p:cNvSpPr/>
          <p:nvPr/>
        </p:nvSpPr>
        <p:spPr>
          <a:xfrm>
            <a:off x="9509760" y="4526280"/>
            <a:ext cx="2103120" cy="1737360"/>
          </a:xfrm>
          <a:prstGeom prst="roundRect">
            <a:avLst>
              <a:gd name="adj" fmla="val 5263"/>
            </a:avLst>
          </a:prstGeom>
          <a:solidFill>
            <a:schemeClr val="tx2"/>
          </a:solidFill>
          <a:ln/>
        </p:spPr>
        <p:txBody>
          <a:bodyPr/>
          <a:lstStyle/>
          <a:p>
            <a:endParaRPr lang="en-SG"/>
          </a:p>
        </p:txBody>
      </p:sp>
      <p:sp>
        <p:nvSpPr>
          <p:cNvPr id="14" name="text96"/>
          <p:cNvSpPr txBox="1"/>
          <p:nvPr/>
        </p:nvSpPr>
        <p:spPr>
          <a:xfrm>
            <a:off x="9646920" y="4663440"/>
            <a:ext cx="1828800" cy="146304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5 Promote</a:t>
            </a:r>
            <a:endParaRPr lang="en-US" sz="1600" dirty="0"/>
          </a:p>
          <a:p>
            <a:pPr marL="0" indent="0">
              <a:buNone/>
            </a:pPr>
            <a:r>
              <a:rPr lang="en-US" sz="1600" dirty="0">
                <a:solidFill>
                  <a:schemeClr val="bg1"/>
                </a:solidFill>
              </a:rPr>
              <a:t>Keep prior model; rollback = rescore with it</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64240" cy="1005840"/>
          </a:xfrm>
          <a:prstGeom prst="rect">
            <a:avLst/>
          </a:prstGeom>
          <a:noFill/>
          <a:ln/>
        </p:spPr>
        <p:txBody>
          <a:bodyPr wrap="square" lIns="0" tIns="0" rIns="0" bIns="0" rtlCol="0" anchor="ctr"/>
          <a:lstStyle/>
          <a:p>
            <a:pPr marL="0" indent="0">
              <a:buNone/>
            </a:pPr>
            <a:r>
              <a:rPr lang="en-US" sz="2800" b="1" dirty="0">
                <a:solidFill>
                  <a:schemeClr val="tx2"/>
                </a:solidFill>
              </a:rPr>
              <a:t>Monthly batch fits today; release new models in shadow first</a:t>
            </a:r>
            <a:endParaRPr lang="en-US" sz="2800" dirty="0"/>
          </a:p>
        </p:txBody>
      </p:sp>
      <p:sp>
        <p:nvSpPr>
          <p:cNvPr id="3" name="card97"/>
          <p:cNvSpPr/>
          <p:nvPr/>
        </p:nvSpPr>
        <p:spPr>
          <a:xfrm>
            <a:off x="548640" y="1508760"/>
            <a:ext cx="6949440" cy="1325880"/>
          </a:xfrm>
          <a:prstGeom prst="roundRect">
            <a:avLst>
              <a:gd name="adj" fmla="val 6897"/>
            </a:avLst>
          </a:prstGeom>
          <a:solidFill>
            <a:schemeClr val="bg2"/>
          </a:solidFill>
          <a:ln/>
        </p:spPr>
        <p:txBody>
          <a:bodyPr/>
          <a:lstStyle/>
          <a:p>
            <a:endParaRPr lang="en-SG"/>
          </a:p>
        </p:txBody>
      </p:sp>
      <p:sp>
        <p:nvSpPr>
          <p:cNvPr id="4" name="text98"/>
          <p:cNvSpPr txBox="1"/>
          <p:nvPr/>
        </p:nvSpPr>
        <p:spPr>
          <a:xfrm>
            <a:off x="777240" y="1645920"/>
            <a:ext cx="6492240" cy="109728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Shadow: challenger scores the same loans (recommended)</a:t>
            </a:r>
            <a:endParaRPr lang="en-US" sz="1600" dirty="0"/>
          </a:p>
          <a:p>
            <a:pPr marL="0" indent="0">
              <a:buNone/>
            </a:pPr>
            <a:r>
              <a:rPr lang="en-US" sz="1600" dirty="0">
                <a:solidFill>
                  <a:schemeClr val="tx1"/>
                </a:solidFill>
              </a:rPr>
              <a:t>The pipeline already scores each month with every earlier model, so no new infrastructure. Compare AUC once 6-month labels mature.</a:t>
            </a:r>
            <a:endParaRPr lang="en-US" sz="1600" dirty="0"/>
          </a:p>
        </p:txBody>
      </p:sp>
      <p:sp>
        <p:nvSpPr>
          <p:cNvPr id="5" name="card99"/>
          <p:cNvSpPr/>
          <p:nvPr/>
        </p:nvSpPr>
        <p:spPr>
          <a:xfrm>
            <a:off x="548640" y="2971800"/>
            <a:ext cx="6949440" cy="1325880"/>
          </a:xfrm>
          <a:prstGeom prst="roundRect">
            <a:avLst>
              <a:gd name="adj" fmla="val 6897"/>
            </a:avLst>
          </a:prstGeom>
          <a:solidFill>
            <a:schemeClr val="bg2"/>
          </a:solidFill>
          <a:ln/>
        </p:spPr>
        <p:txBody>
          <a:bodyPr/>
          <a:lstStyle/>
          <a:p>
            <a:endParaRPr lang="en-SG"/>
          </a:p>
        </p:txBody>
      </p:sp>
      <p:sp>
        <p:nvSpPr>
          <p:cNvPr id="6" name="text100"/>
          <p:cNvSpPr txBox="1"/>
          <p:nvPr/>
        </p:nvSpPr>
        <p:spPr>
          <a:xfrm>
            <a:off x="777240" y="3108960"/>
            <a:ext cx="6492240" cy="109728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Canary: a small share of new loans is decided by the challenger</a:t>
            </a:r>
            <a:endParaRPr lang="en-US" sz="1600" dirty="0"/>
          </a:p>
          <a:p>
            <a:pPr marL="0" indent="0">
              <a:buNone/>
            </a:pPr>
            <a:r>
              <a:rPr lang="en-US" sz="1600" dirty="0">
                <a:solidFill>
                  <a:schemeClr val="tx1"/>
                </a:solidFill>
              </a:rPr>
              <a:t>Tests the real decision path, but needs a decision engine that can split loans, and exposes live credit decisions to an unproven model.</a:t>
            </a:r>
            <a:endParaRPr lang="en-US" sz="1600" dirty="0"/>
          </a:p>
        </p:txBody>
      </p:sp>
      <p:sp>
        <p:nvSpPr>
          <p:cNvPr id="7" name="card101"/>
          <p:cNvSpPr/>
          <p:nvPr/>
        </p:nvSpPr>
        <p:spPr>
          <a:xfrm>
            <a:off x="548640" y="4434840"/>
            <a:ext cx="6949440" cy="1325880"/>
          </a:xfrm>
          <a:prstGeom prst="roundRect">
            <a:avLst>
              <a:gd name="adj" fmla="val 6897"/>
            </a:avLst>
          </a:prstGeom>
          <a:solidFill>
            <a:schemeClr val="bg2"/>
          </a:solidFill>
          <a:ln/>
        </p:spPr>
        <p:txBody>
          <a:bodyPr/>
          <a:lstStyle/>
          <a:p>
            <a:endParaRPr lang="en-SG"/>
          </a:p>
        </p:txBody>
      </p:sp>
      <p:sp>
        <p:nvSpPr>
          <p:cNvPr id="8" name="text102"/>
          <p:cNvSpPr txBox="1"/>
          <p:nvPr/>
        </p:nvSpPr>
        <p:spPr>
          <a:xfrm>
            <a:off x="777240" y="4572000"/>
            <a:ext cx="6492240" cy="109728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A/B test: random split of loans between champion and challenger</a:t>
            </a:r>
            <a:endParaRPr lang="en-US" sz="1600" dirty="0"/>
          </a:p>
          <a:p>
            <a:pPr marL="0" indent="0">
              <a:buNone/>
            </a:pPr>
            <a:r>
              <a:rPr lang="en-US" sz="1600" dirty="0">
                <a:solidFill>
                  <a:schemeClr val="tx1"/>
                </a:solidFill>
              </a:rPr>
              <a:t>Gives causal evidence, but about 500 loans a month and a 6-month label lag make it slow and low-powered, and splitting customers raises fairness questions.</a:t>
            </a:r>
            <a:endParaRPr lang="en-US" sz="1600" dirty="0"/>
          </a:p>
        </p:txBody>
      </p:sp>
      <p:sp>
        <p:nvSpPr>
          <p:cNvPr id="9" name="text103"/>
          <p:cNvSpPr txBox="1"/>
          <p:nvPr/>
        </p:nvSpPr>
        <p:spPr>
          <a:xfrm>
            <a:off x="548640" y="5897880"/>
            <a:ext cx="6949440" cy="365760"/>
          </a:xfrm>
          <a:prstGeom prst="rect">
            <a:avLst/>
          </a:prstGeom>
          <a:noFill/>
          <a:ln/>
        </p:spPr>
        <p:txBody>
          <a:bodyPr wrap="square" lIns="0" tIns="0" rIns="0" bIns="0" rtlCol="0" anchor="t"/>
          <a:lstStyle/>
          <a:p>
            <a:pPr marL="0" indent="0">
              <a:buNone/>
            </a:pPr>
            <a:r>
              <a:rPr lang="en-US" sz="1600" b="1" dirty="0">
                <a:solidFill>
                  <a:schemeClr val="accent1"/>
                </a:solidFill>
              </a:rPr>
              <a:t>Recommendation: stay on batch and shadow every challenger; promote when it beats the champion, rollback = rescore with the prior model.</a:t>
            </a:r>
            <a:endParaRPr lang="en-US" sz="1600" dirty="0"/>
          </a:p>
        </p:txBody>
      </p:sp>
      <p:sp>
        <p:nvSpPr>
          <p:cNvPr id="10" name="card104"/>
          <p:cNvSpPr/>
          <p:nvPr/>
        </p:nvSpPr>
        <p:spPr>
          <a:xfrm>
            <a:off x="7772400" y="1508760"/>
            <a:ext cx="3840480" cy="4754880"/>
          </a:xfrm>
          <a:prstGeom prst="roundRect">
            <a:avLst>
              <a:gd name="adj" fmla="val 2381"/>
            </a:avLst>
          </a:prstGeom>
          <a:solidFill>
            <a:schemeClr val="tx2"/>
          </a:solidFill>
          <a:ln/>
        </p:spPr>
        <p:txBody>
          <a:bodyPr/>
          <a:lstStyle/>
          <a:p>
            <a:endParaRPr lang="en-SG"/>
          </a:p>
        </p:txBody>
      </p:sp>
      <p:sp>
        <p:nvSpPr>
          <p:cNvPr id="11" name="text105"/>
          <p:cNvSpPr txBox="1"/>
          <p:nvPr/>
        </p:nvSpPr>
        <p:spPr>
          <a:xfrm>
            <a:off x="8001000" y="1691640"/>
            <a:ext cx="3383280" cy="365760"/>
          </a:xfrm>
          <a:prstGeom prst="rect">
            <a:avLst/>
          </a:prstGeom>
          <a:noFill/>
          <a:ln/>
        </p:spPr>
        <p:txBody>
          <a:bodyPr wrap="square" lIns="0" tIns="0" rIns="0" bIns="0" rtlCol="0" anchor="t"/>
          <a:lstStyle/>
          <a:p>
            <a:pPr marL="0" indent="0">
              <a:spcAft>
                <a:spcPts val="400"/>
              </a:spcAft>
              <a:buNone/>
            </a:pPr>
            <a:r>
              <a:rPr lang="en-US" sz="1800" b="1" dirty="0">
                <a:solidFill>
                  <a:schemeClr val="accent5"/>
                </a:solidFill>
              </a:rPr>
              <a:t>Serving mode</a:t>
            </a:r>
            <a:endParaRPr lang="en-US" sz="1600" dirty="0"/>
          </a:p>
        </p:txBody>
      </p:sp>
      <p:sp>
        <p:nvSpPr>
          <p:cNvPr id="12" name="text106"/>
          <p:cNvSpPr txBox="1"/>
          <p:nvPr/>
        </p:nvSpPr>
        <p:spPr>
          <a:xfrm>
            <a:off x="8001000" y="2240280"/>
            <a:ext cx="3383280" cy="3840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Monthly batch on Airflow (current): fits a monthly credit cycle; simple, auditable, backfillable</a:t>
            </a:r>
            <a:endParaRPr lang="en-US" sz="1600" dirty="0"/>
          </a:p>
          <a:p>
            <a:pPr marL="342900" indent="-342900">
              <a:spcAft>
                <a:spcPts val="600"/>
              </a:spcAft>
              <a:buSzPct val="100000"/>
              <a:buChar char="•"/>
            </a:pPr>
            <a:r>
              <a:rPr lang="en-US" sz="1600" dirty="0">
                <a:solidFill>
                  <a:schemeClr val="bg1"/>
                </a:solidFill>
              </a:rPr>
              <a:t>Model registry (e.g. MLflow): add when several models need staged promotion</a:t>
            </a:r>
            <a:endParaRPr lang="en-US" sz="1600" dirty="0"/>
          </a:p>
          <a:p>
            <a:pPr marL="342900" indent="-342900">
              <a:spcAft>
                <a:spcPts val="600"/>
              </a:spcAft>
              <a:buSzPct val="100000"/>
              <a:buChar char="•"/>
            </a:pPr>
            <a:r>
              <a:rPr lang="en-US" sz="1600" dirty="0">
                <a:solidFill>
                  <a:schemeClr val="bg1"/>
                </a:solidFill>
              </a:rPr>
              <a:t>Real-time API: only if loans are decided instantly; adds latency, uptime and security duties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Credit Risk Medallion">
  <a:themeElements>
    <a:clrScheme name="Credit Risk Medallion">
      <a:dk1>
        <a:srgbClr val="1B2A33"/>
      </a:dk1>
      <a:lt1>
        <a:srgbClr val="FFFFFF"/>
      </a:lt1>
      <a:dk2>
        <a:srgbClr val="0F2E3D"/>
      </a:dk2>
      <a:lt2>
        <a:srgbClr val="EAF1F3"/>
      </a:lt2>
      <a:accent1>
        <a:srgbClr val="0F6E7A"/>
      </a:accent1>
      <a:accent2>
        <a:srgbClr val="E8A33D"/>
      </a:accent2>
      <a:accent3>
        <a:srgbClr val="B87333"/>
      </a:accent3>
      <a:accent4>
        <a:srgbClr val="9AA5B1"/>
      </a:accent4>
      <a:accent5>
        <a:srgbClr val="D4A017"/>
      </a:accent5>
      <a:accent6>
        <a:srgbClr val="C8553D"/>
      </a:accent6>
      <a:hlink>
        <a:srgbClr val="0F6E7A"/>
      </a:hlink>
      <a:folHlink>
        <a:srgbClr val="9AA5B1"/>
      </a:folHlink>
    </a:clrScheme>
    <a:fontScheme name="Credit Risk Medall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2031</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Credit Risk Medallion</vt:lpstr>
      <vt:lpstr>End-to-end credit-risk ML pipeline</vt:lpstr>
      <vt:lpstr>A monthly pipeline now trains, scores and monitors a loan-default model with no manual steps</vt:lpstr>
      <vt:lpstr>Data flows through bronze, silver and gold, then through train, score and monitor stages</vt:lpstr>
      <vt:lpstr>Data is cleaned once in silver, then shaped into one leak-free feature row per loan</vt:lpstr>
      <vt:lpstr>One tuned XGBoost model, validated on a later time window than it was trained on</vt:lpstr>
      <vt:lpstr>Every month’s new loans are scored by stored models and written to a gold predictions table</vt:lpstr>
      <vt:lpstr>Even with clickstream inputs missing, AUC holds near 0.80 on unseen loans, below the 0.86 reference</vt:lpstr>
      <vt:lpstr>A data feed fault, not model drift, explains the score PSI: clickstream features are empty for new loans</vt:lpstr>
      <vt:lpstr>Draft SOP: monthly traffic-light checks decide when to investigate, retrain or roll back</vt:lpstr>
      <vt:lpstr>Monthly batch fits today; release new models in shadow first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Credit-risk ML pipeline: design and implementation</dc:title>
  <dc:subject>PptxGenJS Presentation</dc:subject>
  <dc:creator>K</dc:creator>
  <cp:lastModifiedBy>KOH We Kiat</cp:lastModifiedBy>
  <cp:revision>3</cp:revision>
  <dcterms:created xsi:type="dcterms:W3CDTF">2026-10-23T07:02:12Z</dcterms:created>
  <dcterms:modified xsi:type="dcterms:W3CDTF">2026-10-23T09:25:01Z</dcterms:modified>
</cp:coreProperties>
</file>