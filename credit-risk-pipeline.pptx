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93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data pipeline: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→ silver → gold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snapshots, Jan 2023 – Dec 2024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4892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5394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feeds unified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8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8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&amp;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pipeline needs to produce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model-ready dataset to predict early-stage loan default, rebuilt monthly and safe to join without leaking future information into a feature snapshot.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5394960" cy="228600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6270"/>
                          </a:solidFill>
                        </a:rPr>
                        <a:t>source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B6270"/>
                          </a:solidFill>
                        </a:rPr>
                        <a:t>content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management system — loan-level repayment / DPD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clickstream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features (fe_1–fe_20)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attributes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demographics: age, occupation, SSN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financials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income, credit lines, balances, payment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233172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EAF0F6"/>
          </a:solidFill>
          <a:ln w="12700">
            <a:solidFill>
              <a:srgbClr val="3E66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 txBox="1"/>
          <p:nvPr/>
        </p:nvSpPr>
        <p:spPr>
          <a:xfrm>
            <a:off x="6464808" y="2478024"/>
            <a:ext cx="499262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(good/bad) and the features must describe two different points in time for the same loan — features as of origination behavior, label as of a fixed observation window later.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42062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 txBox="1"/>
          <p:nvPr/>
        </p:nvSpPr>
        <p:spPr>
          <a:xfrm>
            <a:off x="6428232" y="4325112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consequence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28232" y="4626864"/>
            <a:ext cx="5065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split into two parallel gold outputs — a label store and a feature store — joined only at the very end, on loan id.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medallion layout, rebuilt monthly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holds raw, unmodified snapshots; silver applies cleaning and typing; gold applies business logic and joins. Every layer is partitioned by snapshot date and re-derivable from the layer below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83141" y="2331720"/>
            <a:ext cx="1245678" cy="3982816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A9714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 txBox="1"/>
          <p:nvPr/>
        </p:nvSpPr>
        <p:spPr>
          <a:xfrm>
            <a:off x="2020300" y="2459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7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BRONZE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11245" y="60258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as-is, per snapshot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73806" y="2324163"/>
            <a:ext cx="1231275" cy="3968496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7C849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 txBox="1"/>
          <p:nvPr/>
        </p:nvSpPr>
        <p:spPr>
          <a:xfrm>
            <a:off x="3919664" y="24515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84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02039" y="5998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validated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23317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DF5"/>
          </a:solidFill>
          <a:ln w="19050">
            <a:solidFill>
              <a:srgbClr val="B986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 txBox="1"/>
          <p:nvPr/>
        </p:nvSpPr>
        <p:spPr>
          <a:xfrm>
            <a:off x="6675120" y="2450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· LABEL STORE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≥ 30 @ mob = 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loan_daily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429768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DF5"/>
          </a:solidFill>
          <a:ln w="19050">
            <a:solidFill>
              <a:srgbClr val="B9862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 txBox="1"/>
          <p:nvPr/>
        </p:nvSpPr>
        <p:spPr>
          <a:xfrm>
            <a:off x="6675120" y="4416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· FEATURE STORE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800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+ banded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212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attributes, clickstream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70732" y="3611880"/>
            <a:ext cx="594360" cy="167032"/>
          </a:xfrm>
          <a:prstGeom prst="rightArrow">
            <a:avLst/>
          </a:prstGeom>
          <a:solidFill>
            <a:srgbClr val="3E669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9080108" y="4434840"/>
            <a:ext cx="584984" cy="180434"/>
          </a:xfrm>
          <a:prstGeom prst="rightArrow">
            <a:avLst/>
          </a:prstGeom>
          <a:solidFill>
            <a:srgbClr val="3E669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9692640" y="342900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22225">
            <a:solidFill>
              <a:srgbClr val="3E66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 txBox="1"/>
          <p:nvPr/>
        </p:nvSpPr>
        <p:spPr>
          <a:xfrm>
            <a:off x="9784080" y="3794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E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E66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EDDDE48D-B262-3EE7-2752-D31EF777D7DE}"/>
              </a:ext>
            </a:extLst>
          </p:cNvPr>
          <p:cNvSpPr/>
          <p:nvPr/>
        </p:nvSpPr>
        <p:spPr>
          <a:xfrm>
            <a:off x="862624" y="3162096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3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080898B7-F076-2453-B34B-34685418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1" y="2774927"/>
            <a:ext cx="720442" cy="720442"/>
          </a:xfrm>
          <a:prstGeom prst="rect">
            <a:avLst/>
          </a:prstGeom>
        </p:spPr>
      </p:pic>
      <p:pic>
        <p:nvPicPr>
          <p:cNvPr id="35" name="Picture 34" descr="Database Icons - Free SVG &amp; PNG Database Images - Noun Project">
            <a:extLst>
              <a:ext uri="{FF2B5EF4-FFF2-40B4-BE49-F238E27FC236}">
                <a16:creationId xmlns:a16="http://schemas.microsoft.com/office/drawing/2014/main" id="{BD7F4A90-2739-48FE-23CB-B732E7CEA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20" y="3646819"/>
            <a:ext cx="720442" cy="720442"/>
          </a:xfrm>
          <a:prstGeom prst="rect">
            <a:avLst/>
          </a:prstGeom>
        </p:spPr>
      </p:pic>
      <p:pic>
        <p:nvPicPr>
          <p:cNvPr id="37" name="Picture 36" descr="Database Icons - Free SVG &amp; PNG Database Images - Noun Project">
            <a:extLst>
              <a:ext uri="{FF2B5EF4-FFF2-40B4-BE49-F238E27FC236}">
                <a16:creationId xmlns:a16="http://schemas.microsoft.com/office/drawing/2014/main" id="{998B4820-1321-3F63-F260-13AD40F6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1" y="4412947"/>
            <a:ext cx="720442" cy="720442"/>
          </a:xfrm>
          <a:prstGeom prst="rect">
            <a:avLst/>
          </a:prstGeom>
        </p:spPr>
      </p:pic>
      <p:pic>
        <p:nvPicPr>
          <p:cNvPr id="39" name="Picture 38" descr="Database Icons - Free SVG &amp; PNG Database Images - Noun Project">
            <a:extLst>
              <a:ext uri="{FF2B5EF4-FFF2-40B4-BE49-F238E27FC236}">
                <a16:creationId xmlns:a16="http://schemas.microsoft.com/office/drawing/2014/main" id="{232028FF-10B5-B391-84F5-1CCF1F8A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1" y="5236621"/>
            <a:ext cx="720442" cy="720442"/>
          </a:xfrm>
          <a:prstGeom prst="rect">
            <a:avLst/>
          </a:prstGeom>
        </p:spPr>
      </p:pic>
      <p:pic>
        <p:nvPicPr>
          <p:cNvPr id="43" name="Picture 42" descr="Database Icons - Free SVG &amp; PNG Database Images - Noun Project">
            <a:extLst>
              <a:ext uri="{FF2B5EF4-FFF2-40B4-BE49-F238E27FC236}">
                <a16:creationId xmlns:a16="http://schemas.microsoft.com/office/drawing/2014/main" id="{EEF98B14-63A1-B449-2892-287C544C0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10" y="2875163"/>
            <a:ext cx="657897" cy="65789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CF1D690-9494-C941-74BA-3C289B934CF0}"/>
              </a:ext>
            </a:extLst>
          </p:cNvPr>
          <p:cNvSpPr txBox="1"/>
          <p:nvPr/>
        </p:nvSpPr>
        <p:spPr>
          <a:xfrm>
            <a:off x="2312814" y="2661457"/>
            <a:ext cx="595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lms</a:t>
            </a:r>
            <a:endParaRPr lang="en-SG" sz="1200" dirty="0"/>
          </a:p>
        </p:txBody>
      </p:sp>
      <p:pic>
        <p:nvPicPr>
          <p:cNvPr id="46" name="Picture 45" descr="Database Icons - Free SVG &amp; PNG Database Images - Noun Project">
            <a:extLst>
              <a:ext uri="{FF2B5EF4-FFF2-40B4-BE49-F238E27FC236}">
                <a16:creationId xmlns:a16="http://schemas.microsoft.com/office/drawing/2014/main" id="{BCEAEB24-173D-EDD4-172D-50CDEE5E9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247" y="3690825"/>
            <a:ext cx="657897" cy="65789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703CE50-5BDD-6C85-EC15-D4D99BF6881D}"/>
              </a:ext>
            </a:extLst>
          </p:cNvPr>
          <p:cNvSpPr txBox="1"/>
          <p:nvPr/>
        </p:nvSpPr>
        <p:spPr>
          <a:xfrm>
            <a:off x="2132815" y="3483455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clickstream</a:t>
            </a:r>
            <a:endParaRPr lang="en-SG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4E792F-00A7-16ED-B264-6ED28BEC4C39}"/>
              </a:ext>
            </a:extLst>
          </p:cNvPr>
          <p:cNvSpPr txBox="1"/>
          <p:nvPr/>
        </p:nvSpPr>
        <p:spPr>
          <a:xfrm>
            <a:off x="81065" y="2561143"/>
            <a:ext cx="1281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lms_loan_daily</a:t>
            </a:r>
            <a:endParaRPr lang="en-SG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043E4B-7DBD-338D-CFEF-EF04EB7C18F2}"/>
              </a:ext>
            </a:extLst>
          </p:cNvPr>
          <p:cNvSpPr txBox="1"/>
          <p:nvPr/>
        </p:nvSpPr>
        <p:spPr>
          <a:xfrm>
            <a:off x="56734" y="3394560"/>
            <a:ext cx="160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feature_clickstream</a:t>
            </a:r>
            <a:endParaRPr lang="en-SG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FB5102-818F-5C3D-AA83-F312C3A55F29}"/>
              </a:ext>
            </a:extLst>
          </p:cNvPr>
          <p:cNvSpPr txBox="1"/>
          <p:nvPr/>
        </p:nvSpPr>
        <p:spPr>
          <a:xfrm>
            <a:off x="134151" y="4223067"/>
            <a:ext cx="1561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features_financials</a:t>
            </a:r>
            <a:endParaRPr lang="en-SG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DC636B-86DE-DFF2-F3F9-5345C7E36D45}"/>
              </a:ext>
            </a:extLst>
          </p:cNvPr>
          <p:cNvSpPr txBox="1"/>
          <p:nvPr/>
        </p:nvSpPr>
        <p:spPr>
          <a:xfrm>
            <a:off x="87751" y="5030726"/>
            <a:ext cx="1561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features_attributes</a:t>
            </a:r>
            <a:endParaRPr lang="en-SG" sz="1200" dirty="0"/>
          </a:p>
        </p:txBody>
      </p:sp>
      <p:pic>
        <p:nvPicPr>
          <p:cNvPr id="58" name="Picture 57" descr="Database Icons - Free SVG &amp; PNG Database Images - Noun Project">
            <a:extLst>
              <a:ext uri="{FF2B5EF4-FFF2-40B4-BE49-F238E27FC236}">
                <a16:creationId xmlns:a16="http://schemas.microsoft.com/office/drawing/2014/main" id="{A3C1250F-0E6B-12EE-16E5-D06AF74D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029" y="4446470"/>
            <a:ext cx="657897" cy="65789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6CE46419-E500-A982-17AA-BE9C43061DD0}"/>
              </a:ext>
            </a:extLst>
          </p:cNvPr>
          <p:cNvSpPr txBox="1"/>
          <p:nvPr/>
        </p:nvSpPr>
        <p:spPr>
          <a:xfrm>
            <a:off x="2036455" y="4265123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financials</a:t>
            </a:r>
            <a:endParaRPr lang="en-SG" sz="1200" dirty="0"/>
          </a:p>
        </p:txBody>
      </p:sp>
      <p:pic>
        <p:nvPicPr>
          <p:cNvPr id="64" name="Picture 63" descr="Database Icons - Free SVG &amp; PNG Database Images - Noun Project">
            <a:extLst>
              <a:ext uri="{FF2B5EF4-FFF2-40B4-BE49-F238E27FC236}">
                <a16:creationId xmlns:a16="http://schemas.microsoft.com/office/drawing/2014/main" id="{5B986C26-E689-9189-C00B-E49C62F83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210" y="5256767"/>
            <a:ext cx="657897" cy="65789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56A6CAD-71BF-0C5F-7FEF-64073E7643CE}"/>
              </a:ext>
            </a:extLst>
          </p:cNvPr>
          <p:cNvSpPr txBox="1"/>
          <p:nvPr/>
        </p:nvSpPr>
        <p:spPr>
          <a:xfrm>
            <a:off x="2073626" y="5054824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attributes</a:t>
            </a:r>
            <a:endParaRPr lang="en-SG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8A865A-E6CD-898D-5DC5-BECFB194CBF1}"/>
              </a:ext>
            </a:extLst>
          </p:cNvPr>
          <p:cNvSpPr txBox="1"/>
          <p:nvPr/>
        </p:nvSpPr>
        <p:spPr>
          <a:xfrm>
            <a:off x="1320334" y="3069317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E92FFAA6-6615-E2A0-81ED-22952D1AA815}"/>
              </a:ext>
            </a:extLst>
          </p:cNvPr>
          <p:cNvSpPr/>
          <p:nvPr/>
        </p:nvSpPr>
        <p:spPr>
          <a:xfrm>
            <a:off x="1791700" y="3178123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861B7498-7207-547F-73B4-ED8713CFB83D}"/>
              </a:ext>
            </a:extLst>
          </p:cNvPr>
          <p:cNvSpPr/>
          <p:nvPr/>
        </p:nvSpPr>
        <p:spPr>
          <a:xfrm>
            <a:off x="848471" y="3952743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03E6A8-1E31-1C16-EA43-C6405D8DB0C2}"/>
              </a:ext>
            </a:extLst>
          </p:cNvPr>
          <p:cNvSpPr txBox="1"/>
          <p:nvPr/>
        </p:nvSpPr>
        <p:spPr>
          <a:xfrm>
            <a:off x="1306181" y="3859964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78" name="Shape 7">
            <a:extLst>
              <a:ext uri="{FF2B5EF4-FFF2-40B4-BE49-F238E27FC236}">
                <a16:creationId xmlns:a16="http://schemas.microsoft.com/office/drawing/2014/main" id="{213B7113-F737-2BB4-56EF-8C6C7FC7406D}"/>
              </a:ext>
            </a:extLst>
          </p:cNvPr>
          <p:cNvSpPr/>
          <p:nvPr/>
        </p:nvSpPr>
        <p:spPr>
          <a:xfrm>
            <a:off x="1777547" y="3968770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5" name="Shape 7">
            <a:extLst>
              <a:ext uri="{FF2B5EF4-FFF2-40B4-BE49-F238E27FC236}">
                <a16:creationId xmlns:a16="http://schemas.microsoft.com/office/drawing/2014/main" id="{D89D3C78-34B0-1DB5-B6D6-10A11D91AEBB}"/>
              </a:ext>
            </a:extLst>
          </p:cNvPr>
          <p:cNvSpPr/>
          <p:nvPr/>
        </p:nvSpPr>
        <p:spPr>
          <a:xfrm>
            <a:off x="848471" y="4700050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CA8091-10B3-1C7D-1DB9-33CC0DE15869}"/>
              </a:ext>
            </a:extLst>
          </p:cNvPr>
          <p:cNvSpPr txBox="1"/>
          <p:nvPr/>
        </p:nvSpPr>
        <p:spPr>
          <a:xfrm>
            <a:off x="1306181" y="4607271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87" name="Shape 7">
            <a:extLst>
              <a:ext uri="{FF2B5EF4-FFF2-40B4-BE49-F238E27FC236}">
                <a16:creationId xmlns:a16="http://schemas.microsoft.com/office/drawing/2014/main" id="{48D1B8DB-458D-D565-5241-F3745F4068F5}"/>
              </a:ext>
            </a:extLst>
          </p:cNvPr>
          <p:cNvSpPr/>
          <p:nvPr/>
        </p:nvSpPr>
        <p:spPr>
          <a:xfrm>
            <a:off x="1777547" y="4716077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9" name="Shape 7">
            <a:extLst>
              <a:ext uri="{FF2B5EF4-FFF2-40B4-BE49-F238E27FC236}">
                <a16:creationId xmlns:a16="http://schemas.microsoft.com/office/drawing/2014/main" id="{DBE7536C-C7C4-2506-0562-C7971A6E517E}"/>
              </a:ext>
            </a:extLst>
          </p:cNvPr>
          <p:cNvSpPr/>
          <p:nvPr/>
        </p:nvSpPr>
        <p:spPr>
          <a:xfrm>
            <a:off x="844999" y="5576989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B65426-FA58-D165-82EE-2FDFB5E0B5EB}"/>
              </a:ext>
            </a:extLst>
          </p:cNvPr>
          <p:cNvSpPr txBox="1"/>
          <p:nvPr/>
        </p:nvSpPr>
        <p:spPr>
          <a:xfrm>
            <a:off x="1302709" y="5484210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93" name="Shape 7">
            <a:extLst>
              <a:ext uri="{FF2B5EF4-FFF2-40B4-BE49-F238E27FC236}">
                <a16:creationId xmlns:a16="http://schemas.microsoft.com/office/drawing/2014/main" id="{B405C179-FD27-350B-8607-EE0888B512FE}"/>
              </a:ext>
            </a:extLst>
          </p:cNvPr>
          <p:cNvSpPr/>
          <p:nvPr/>
        </p:nvSpPr>
        <p:spPr>
          <a:xfrm>
            <a:off x="1774075" y="5593016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E1613C61-9947-49C2-BBAC-903B3E81B423}"/>
              </a:ext>
            </a:extLst>
          </p:cNvPr>
          <p:cNvSpPr/>
          <p:nvPr/>
        </p:nvSpPr>
        <p:spPr>
          <a:xfrm>
            <a:off x="2767462" y="3121785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97" name="Picture 96" descr="Database Icons - Free SVG &amp; PNG Database Images - Noun Project">
            <a:extLst>
              <a:ext uri="{FF2B5EF4-FFF2-40B4-BE49-F238E27FC236}">
                <a16:creationId xmlns:a16="http://schemas.microsoft.com/office/drawing/2014/main" id="{4E435023-0D6E-F6E8-9E7A-FA25EB7D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248" y="2834852"/>
            <a:ext cx="657897" cy="657897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2FDCBBF1-9A1C-6CCB-2F80-A79689164AE3}"/>
              </a:ext>
            </a:extLst>
          </p:cNvPr>
          <p:cNvSpPr txBox="1"/>
          <p:nvPr/>
        </p:nvSpPr>
        <p:spPr>
          <a:xfrm>
            <a:off x="4049856" y="2638800"/>
            <a:ext cx="823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loan_daily</a:t>
            </a:r>
            <a:endParaRPr lang="en-SG" sz="1200" dirty="0"/>
          </a:p>
        </p:txBody>
      </p:sp>
      <p:pic>
        <p:nvPicPr>
          <p:cNvPr id="101" name="Picture 100" descr="Database Icons - Free SVG &amp; PNG Database Images - Noun Project">
            <a:extLst>
              <a:ext uri="{FF2B5EF4-FFF2-40B4-BE49-F238E27FC236}">
                <a16:creationId xmlns:a16="http://schemas.microsoft.com/office/drawing/2014/main" id="{C906A678-D8E7-2309-F81A-EE18AA0D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085" y="3650514"/>
            <a:ext cx="657897" cy="657897"/>
          </a:xfrm>
          <a:prstGeom prst="rect">
            <a:avLst/>
          </a:prstGeom>
        </p:spPr>
      </p:pic>
      <p:pic>
        <p:nvPicPr>
          <p:cNvPr id="103" name="Picture 102" descr="Database Icons - Free SVG &amp; PNG Database Images - Noun Project">
            <a:extLst>
              <a:ext uri="{FF2B5EF4-FFF2-40B4-BE49-F238E27FC236}">
                <a16:creationId xmlns:a16="http://schemas.microsoft.com/office/drawing/2014/main" id="{2D4EECDF-5FFD-7084-A195-AE792703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579" y="4406159"/>
            <a:ext cx="657897" cy="657897"/>
          </a:xfrm>
          <a:prstGeom prst="rect">
            <a:avLst/>
          </a:prstGeom>
        </p:spPr>
      </p:pic>
      <p:pic>
        <p:nvPicPr>
          <p:cNvPr id="105" name="Picture 104" descr="Database Icons - Free SVG &amp; PNG Database Images - Noun Project">
            <a:extLst>
              <a:ext uri="{FF2B5EF4-FFF2-40B4-BE49-F238E27FC236}">
                <a16:creationId xmlns:a16="http://schemas.microsoft.com/office/drawing/2014/main" id="{C83BDB75-86AC-0A3E-7A95-ECBF55A4D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048" y="5216456"/>
            <a:ext cx="657897" cy="657897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0ACB1DA7-2669-0906-3F7D-D76F3BD4F272}"/>
              </a:ext>
            </a:extLst>
          </p:cNvPr>
          <p:cNvSpPr txBox="1"/>
          <p:nvPr/>
        </p:nvSpPr>
        <p:spPr>
          <a:xfrm>
            <a:off x="3225172" y="3029006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09" name="Shape 7">
            <a:extLst>
              <a:ext uri="{FF2B5EF4-FFF2-40B4-BE49-F238E27FC236}">
                <a16:creationId xmlns:a16="http://schemas.microsoft.com/office/drawing/2014/main" id="{5304F887-1284-2848-1389-4F9BC2591585}"/>
              </a:ext>
            </a:extLst>
          </p:cNvPr>
          <p:cNvSpPr/>
          <p:nvPr/>
        </p:nvSpPr>
        <p:spPr>
          <a:xfrm>
            <a:off x="3696538" y="3137812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1" name="Shape 7">
            <a:extLst>
              <a:ext uri="{FF2B5EF4-FFF2-40B4-BE49-F238E27FC236}">
                <a16:creationId xmlns:a16="http://schemas.microsoft.com/office/drawing/2014/main" id="{92A31696-BD39-0400-2CF8-2922A8C2A68A}"/>
              </a:ext>
            </a:extLst>
          </p:cNvPr>
          <p:cNvSpPr/>
          <p:nvPr/>
        </p:nvSpPr>
        <p:spPr>
          <a:xfrm>
            <a:off x="2753309" y="3912432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2C49E5-7E09-AEBF-530D-230E21B76FF9}"/>
              </a:ext>
            </a:extLst>
          </p:cNvPr>
          <p:cNvSpPr txBox="1"/>
          <p:nvPr/>
        </p:nvSpPr>
        <p:spPr>
          <a:xfrm>
            <a:off x="3211019" y="3819653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15" name="Shape 7">
            <a:extLst>
              <a:ext uri="{FF2B5EF4-FFF2-40B4-BE49-F238E27FC236}">
                <a16:creationId xmlns:a16="http://schemas.microsoft.com/office/drawing/2014/main" id="{46C82FB4-1D1D-4E0C-84F3-DF16829B8767}"/>
              </a:ext>
            </a:extLst>
          </p:cNvPr>
          <p:cNvSpPr/>
          <p:nvPr/>
        </p:nvSpPr>
        <p:spPr>
          <a:xfrm>
            <a:off x="3682385" y="3928459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7" name="Shape 7">
            <a:extLst>
              <a:ext uri="{FF2B5EF4-FFF2-40B4-BE49-F238E27FC236}">
                <a16:creationId xmlns:a16="http://schemas.microsoft.com/office/drawing/2014/main" id="{D0E90E2C-9778-EB9A-1CEE-D8AF8596B241}"/>
              </a:ext>
            </a:extLst>
          </p:cNvPr>
          <p:cNvSpPr/>
          <p:nvPr/>
        </p:nvSpPr>
        <p:spPr>
          <a:xfrm>
            <a:off x="2753309" y="4659739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2E10107-19D6-451C-C610-F5357767E911}"/>
              </a:ext>
            </a:extLst>
          </p:cNvPr>
          <p:cNvSpPr txBox="1"/>
          <p:nvPr/>
        </p:nvSpPr>
        <p:spPr>
          <a:xfrm>
            <a:off x="3211019" y="4566960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21" name="Shape 7">
            <a:extLst>
              <a:ext uri="{FF2B5EF4-FFF2-40B4-BE49-F238E27FC236}">
                <a16:creationId xmlns:a16="http://schemas.microsoft.com/office/drawing/2014/main" id="{7A00FB47-6B11-03D0-FB76-CDB2623FAF78}"/>
              </a:ext>
            </a:extLst>
          </p:cNvPr>
          <p:cNvSpPr/>
          <p:nvPr/>
        </p:nvSpPr>
        <p:spPr>
          <a:xfrm>
            <a:off x="3682385" y="4675766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3" name="Shape 7">
            <a:extLst>
              <a:ext uri="{FF2B5EF4-FFF2-40B4-BE49-F238E27FC236}">
                <a16:creationId xmlns:a16="http://schemas.microsoft.com/office/drawing/2014/main" id="{C19F1865-E72C-0D62-5468-779277EA7977}"/>
              </a:ext>
            </a:extLst>
          </p:cNvPr>
          <p:cNvSpPr/>
          <p:nvPr/>
        </p:nvSpPr>
        <p:spPr>
          <a:xfrm>
            <a:off x="2749837" y="5536678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43857FC-A060-B308-EF56-AE813C4D729E}"/>
              </a:ext>
            </a:extLst>
          </p:cNvPr>
          <p:cNvSpPr txBox="1"/>
          <p:nvPr/>
        </p:nvSpPr>
        <p:spPr>
          <a:xfrm>
            <a:off x="3207547" y="5443899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27" name="Shape 7">
            <a:extLst>
              <a:ext uri="{FF2B5EF4-FFF2-40B4-BE49-F238E27FC236}">
                <a16:creationId xmlns:a16="http://schemas.microsoft.com/office/drawing/2014/main" id="{3B0AE5B5-6EE4-C211-A492-476538A7DB1D}"/>
              </a:ext>
            </a:extLst>
          </p:cNvPr>
          <p:cNvSpPr/>
          <p:nvPr/>
        </p:nvSpPr>
        <p:spPr>
          <a:xfrm>
            <a:off x="3678913" y="5552705"/>
            <a:ext cx="446252" cy="112679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1D0FDB-F6BB-DA7D-A37F-A5D8DD4478BE}"/>
              </a:ext>
            </a:extLst>
          </p:cNvPr>
          <p:cNvSpPr txBox="1"/>
          <p:nvPr/>
        </p:nvSpPr>
        <p:spPr>
          <a:xfrm>
            <a:off x="4022925" y="3428761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clickstream</a:t>
            </a:r>
            <a:endParaRPr lang="en-SG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7E9AF4C-1320-A4E9-6476-633A3FA31622}"/>
              </a:ext>
            </a:extLst>
          </p:cNvPr>
          <p:cNvSpPr txBox="1"/>
          <p:nvPr/>
        </p:nvSpPr>
        <p:spPr>
          <a:xfrm>
            <a:off x="4077863" y="4220654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financials</a:t>
            </a:r>
            <a:endParaRPr lang="en-SG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2441728-CBFA-8FB1-AAC4-E06E9ACA736E}"/>
              </a:ext>
            </a:extLst>
          </p:cNvPr>
          <p:cNvSpPr txBox="1"/>
          <p:nvPr/>
        </p:nvSpPr>
        <p:spPr>
          <a:xfrm>
            <a:off x="4031980" y="5038344"/>
            <a:ext cx="1017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attributes</a:t>
            </a:r>
            <a:endParaRPr lang="en-SG" sz="1200" dirty="0"/>
          </a:p>
        </p:txBody>
      </p:sp>
      <p:sp>
        <p:nvSpPr>
          <p:cNvPr id="138" name="Text 4">
            <a:extLst>
              <a:ext uri="{FF2B5EF4-FFF2-40B4-BE49-F238E27FC236}">
                <a16:creationId xmlns:a16="http://schemas.microsoft.com/office/drawing/2014/main" id="{F1336E90-1372-DCF7-359A-EF3E20294BD7}"/>
              </a:ext>
            </a:extLst>
          </p:cNvPr>
          <p:cNvSpPr txBox="1"/>
          <p:nvPr/>
        </p:nvSpPr>
        <p:spPr>
          <a:xfrm>
            <a:off x="107653" y="2310949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endParaRPr lang="en-US" sz="1100" dirty="0"/>
          </a:p>
        </p:txBody>
      </p:sp>
      <p:sp>
        <p:nvSpPr>
          <p:cNvPr id="140" name="Shape 7">
            <a:extLst>
              <a:ext uri="{FF2B5EF4-FFF2-40B4-BE49-F238E27FC236}">
                <a16:creationId xmlns:a16="http://schemas.microsoft.com/office/drawing/2014/main" id="{AAE42729-0426-F24C-7349-783C44D6E16B}"/>
              </a:ext>
            </a:extLst>
          </p:cNvPr>
          <p:cNvSpPr/>
          <p:nvPr/>
        </p:nvSpPr>
        <p:spPr>
          <a:xfrm>
            <a:off x="4697866" y="3089536"/>
            <a:ext cx="657896" cy="124348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BCC6980-D1A1-B2CC-162B-C8B7C48209A9}"/>
              </a:ext>
            </a:extLst>
          </p:cNvPr>
          <p:cNvSpPr txBox="1"/>
          <p:nvPr/>
        </p:nvSpPr>
        <p:spPr>
          <a:xfrm>
            <a:off x="5379861" y="3008425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44" name="Shape 7">
            <a:extLst>
              <a:ext uri="{FF2B5EF4-FFF2-40B4-BE49-F238E27FC236}">
                <a16:creationId xmlns:a16="http://schemas.microsoft.com/office/drawing/2014/main" id="{724CAB7C-F903-394F-BB0A-D8E3FF40F9F0}"/>
              </a:ext>
            </a:extLst>
          </p:cNvPr>
          <p:cNvSpPr/>
          <p:nvPr/>
        </p:nvSpPr>
        <p:spPr>
          <a:xfrm>
            <a:off x="5828230" y="3058924"/>
            <a:ext cx="709730" cy="170988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A9F1CB0-0565-072D-9885-035C85042571}"/>
              </a:ext>
            </a:extLst>
          </p:cNvPr>
          <p:cNvSpPr txBox="1"/>
          <p:nvPr/>
        </p:nvSpPr>
        <p:spPr>
          <a:xfrm>
            <a:off x="5409373" y="4700050"/>
            <a:ext cx="44393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ETL</a:t>
            </a:r>
            <a:endParaRPr lang="en-SG" sz="1200" dirty="0"/>
          </a:p>
        </p:txBody>
      </p:sp>
      <p:sp>
        <p:nvSpPr>
          <p:cNvPr id="150" name="Shape 7">
            <a:extLst>
              <a:ext uri="{FF2B5EF4-FFF2-40B4-BE49-F238E27FC236}">
                <a16:creationId xmlns:a16="http://schemas.microsoft.com/office/drawing/2014/main" id="{7366D8D5-DE5F-E75A-2BF5-EDC2F22A19B7}"/>
              </a:ext>
            </a:extLst>
          </p:cNvPr>
          <p:cNvSpPr/>
          <p:nvPr/>
        </p:nvSpPr>
        <p:spPr>
          <a:xfrm>
            <a:off x="5863055" y="4743008"/>
            <a:ext cx="674905" cy="158115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22E02F8D-D9DC-D9AB-9AC6-D7CFF5DDD3E6}"/>
              </a:ext>
            </a:extLst>
          </p:cNvPr>
          <p:cNvCxnSpPr>
            <a:cxnSpLocks/>
            <a:stCxn id="101" idx="3"/>
            <a:endCxn id="148" idx="0"/>
          </p:cNvCxnSpPr>
          <p:nvPr/>
        </p:nvCxnSpPr>
        <p:spPr>
          <a:xfrm>
            <a:off x="4720982" y="3979463"/>
            <a:ext cx="910358" cy="720587"/>
          </a:xfrm>
          <a:prstGeom prst="bentConnector2">
            <a:avLst/>
          </a:prstGeom>
          <a:ln w="57150">
            <a:solidFill>
              <a:srgbClr val="5B62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Shape 7">
            <a:extLst>
              <a:ext uri="{FF2B5EF4-FFF2-40B4-BE49-F238E27FC236}">
                <a16:creationId xmlns:a16="http://schemas.microsoft.com/office/drawing/2014/main" id="{D7B399F2-55C0-6271-7BA4-E0E362C25E25}"/>
              </a:ext>
            </a:extLst>
          </p:cNvPr>
          <p:cNvSpPr/>
          <p:nvPr/>
        </p:nvSpPr>
        <p:spPr>
          <a:xfrm>
            <a:off x="4720982" y="4739116"/>
            <a:ext cx="674905" cy="158115"/>
          </a:xfrm>
          <a:prstGeom prst="rightArrow">
            <a:avLst/>
          </a:prstGeom>
          <a:solidFill>
            <a:srgbClr val="5B6270"/>
          </a:solidFill>
          <a:ln/>
        </p:spPr>
        <p:txBody>
          <a:bodyPr/>
          <a:lstStyle/>
          <a:p>
            <a:endParaRPr lang="en-SG"/>
          </a:p>
        </p:txBody>
      </p: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3E6BD11B-3912-5AD9-A4D5-58400339C901}"/>
              </a:ext>
            </a:extLst>
          </p:cNvPr>
          <p:cNvCxnSpPr>
            <a:cxnSpLocks/>
            <a:endCxn id="148" idx="2"/>
          </p:cNvCxnSpPr>
          <p:nvPr/>
        </p:nvCxnSpPr>
        <p:spPr>
          <a:xfrm flipV="1">
            <a:off x="4751476" y="4977049"/>
            <a:ext cx="879864" cy="599066"/>
          </a:xfrm>
          <a:prstGeom prst="bentConnector2">
            <a:avLst/>
          </a:prstGeom>
          <a:ln w="57150">
            <a:solidFill>
              <a:srgbClr val="5B627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BRONZE LAYER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Bronze: capture first, interpret later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monthly backfill run writes every source, for every snapshot date, into its own partition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raw-and-immutable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752344"/>
            <a:ext cx="506577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Replayable: silver/gold logic can be rewritten and rerun against the same bronze history without re-touching source systems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Auditable: a value that looks wrong downstream can always be traced to exactly what arrived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Decouples ingestion cadence from cleaning-logic changes — the two evolve independently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 txBox="1"/>
          <p:nvPr/>
        </p:nvSpPr>
        <p:spPr>
          <a:xfrm>
            <a:off x="6428232" y="2450592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752344"/>
            <a:ext cx="506577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directory per source (bronze/lms, bronze/feature_clickstream, …)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Backfill loop iterates the 24 snapshot dates and calls a per-source, per-date processing function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CSV in, Parquet-ready DataFrame out — schema-on-read, no dropped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SILVER LAYER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Silver: make messy fields trustworthy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Normalize where intent is unambiguous.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Otherwise, NULL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11274552" cy="36576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B6270"/>
                          </a:solidFill>
                        </a:rPr>
                        <a:t>field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B6270"/>
                          </a:solidFill>
                        </a:rPr>
                        <a:t>problem observed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B6270"/>
                          </a:solidFill>
                        </a:rPr>
                        <a:t>silver-layer rule</a:t>
                      </a:r>
                      <a:endParaRPr lang="en-US" sz="950" dirty="0"/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Stray characters, unrealistic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non-digits, take leading 1–2 digits, null if &gt;100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Occupation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 "_______"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sentinel →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values mixed with 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Regex-validate ###-##-####, else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Annual_Income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Underscore-padded numerics, outliers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underscores, cast double, null outside 0–200k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Num_Bank_Accounts / Interest_Rate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Implausible counts / 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caps (e.g. rate ≤ 34%), else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Credit_History_Age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text: "22 Years and 1 Months"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Regex-extract years+months → single numeric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Amount_invested_monthly / Balance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strings ("__10000__", 21-digit negative)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Exact-match sentinel → null, else strip padding &amp; 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0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Type_of_Loan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exactly where customer has 0 loans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→ explicit "No Loan" (cross-checked vs Num_of_Loan)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GOLD LAYER - LABEL 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“bad”: DPD ≥ 30 at MOB 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needs a fixed observation window so every loan is judged on comparable footing.</a:t>
            </a:r>
            <a:endParaRPr lang="en-US" sz="1350" dirty="0"/>
          </a:p>
        </p:txBody>
      </p:sp>
      <p:pic>
        <p:nvPicPr>
          <p:cNvPr id="5" name="Image 0" descr="nb_assets/cell94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0"/>
            <a:ext cx="4160520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559612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rate vs. month-on-book (mob), dpd threshold = 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17720" y="2286000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EAF0F6"/>
          </a:solidFill>
          <a:ln w="12700">
            <a:solidFill>
              <a:srgbClr val="3E66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5"/>
          <p:cNvSpPr txBox="1"/>
          <p:nvPr/>
        </p:nvSpPr>
        <p:spPr>
          <a:xfrm>
            <a:off x="4818888" y="2432304"/>
            <a:ext cx="284378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rate climbs steeply through mob 1–5, then flattens from mob 6 onward — the earliest month at which a loan's outcome is settled. mob = 6 is used as the label observation point, balancing early availability against label stability.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448056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 txBox="1"/>
          <p:nvPr/>
        </p:nvSpPr>
        <p:spPr>
          <a:xfrm>
            <a:off x="4782312" y="4599432"/>
            <a:ext cx="2916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rule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782312" y="4901184"/>
            <a:ext cx="29169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1 if dpd ≥ 30 by mob = 6, computed only from the silver loan_daily table, restricted to loans with enough installments observed.</a:t>
            </a:r>
            <a:endParaRPr lang="en-US" sz="1100" dirty="0"/>
          </a:p>
        </p:txBody>
      </p:sp>
      <p:pic>
        <p:nvPicPr>
          <p:cNvPr id="12" name="Image 1" descr="nb_assets/cell110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286000"/>
            <a:ext cx="3383280" cy="2523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7532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resulting label distribution, gold label store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275320" y="5166360"/>
            <a:ext cx="3383280" cy="978408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1"/>
          <p:cNvSpPr txBox="1"/>
          <p:nvPr/>
        </p:nvSpPr>
        <p:spPr>
          <a:xfrm>
            <a:off x="8439912" y="528523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439912" y="5586984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~29% bad rate needs class-aware evaluation downstream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FEATURE ENGINEERING &amp; VALIDATION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Banding continuous fields, then checking the bands against risk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93586" y="114748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Cutoffs were placed against the real distribution, then each cut was checked against realized bad rate.</a:t>
            </a:r>
            <a:endParaRPr lang="en-US" sz="1350" dirty="0"/>
          </a:p>
        </p:txBody>
      </p:sp>
      <p:pic>
        <p:nvPicPr>
          <p:cNvPr id="7" name="Image 1" descr="nb_assets/cell117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021" y="1867576"/>
            <a:ext cx="4206240" cy="16596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40021" y="3589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B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rate rises across EMI-to-income deciles</a:t>
            </a:r>
            <a:endParaRPr lang="en-US" sz="850" b="1" dirty="0"/>
          </a:p>
        </p:txBody>
      </p:sp>
      <p:sp>
        <p:nvSpPr>
          <p:cNvPr id="11" name="Shape 7"/>
          <p:cNvSpPr/>
          <p:nvPr/>
        </p:nvSpPr>
        <p:spPr>
          <a:xfrm>
            <a:off x="899735" y="5312664"/>
            <a:ext cx="3712463" cy="1161288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12" name="Text 8"/>
          <p:cNvSpPr txBox="1"/>
          <p:nvPr/>
        </p:nvSpPr>
        <p:spPr>
          <a:xfrm>
            <a:off x="1064328" y="5431536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Credit_History_Band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64328" y="5733288"/>
            <a:ext cx="3191256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bands at 25/40/60; credit history at 60/180 months based on actual distribution to gain meaningful representation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95616" y="4315968"/>
            <a:ext cx="4339162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1"/>
          <p:cNvSpPr txBox="1"/>
          <p:nvPr/>
        </p:nvSpPr>
        <p:spPr>
          <a:xfrm>
            <a:off x="6660207" y="4434840"/>
            <a:ext cx="4562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ratios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60207" y="4736592"/>
            <a:ext cx="417457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EMI_to_Income_Ratio, Debt_to_Income_Ratio left unbanded — decile checks (above) show the signal is monotonic and would be lost by coarse banding.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3BBF5E-97EC-C687-74EA-B0464EFFA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49" y="1539796"/>
            <a:ext cx="3826850" cy="18892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47AB98-227E-B5F1-CA92-1D194EC49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49" y="3333771"/>
            <a:ext cx="3826850" cy="1850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JOIN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key: loan_id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label store and gold feature store are built independently and combined exactly once, at analysis/training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7ECEA"/>
          </a:solidFill>
          <a:ln w="12700">
            <a:solidFill>
              <a:srgbClr val="9C3B3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 txBox="1"/>
          <p:nvPr/>
        </p:nvSpPr>
        <p:spPr>
          <a:xfrm>
            <a:off x="704088" y="2523744"/>
            <a:ext cx="499262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join on snapshot_date? The feature store snapshot describes a customer's state at origination; the label store snapshot describes an outcome six months later. Joining on date would silently align a feature row with a label it didn't cause leading to leakage.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37744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 txBox="1"/>
          <p:nvPr/>
        </p:nvSpPr>
        <p:spPr>
          <a:xfrm>
            <a:off x="6428232" y="2496312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instead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798064"/>
            <a:ext cx="506577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 key is the loan's identity, loan_id, stable across both stores</a:t>
            </a: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counts are logged before and after the join to catch silent fan-out or drop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logic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DATA QUALITY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Missingness is measured, not hidden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rates are computed per column, per silver table, and nulls are deliberately preserved rather than imputed at this layer.</a:t>
            </a:r>
            <a:endParaRPr lang="en-US" sz="1350" dirty="0"/>
          </a:p>
        </p:txBody>
      </p:sp>
      <p:pic>
        <p:nvPicPr>
          <p:cNvPr id="5" name="Image 0" descr="nb_assets/cell120_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77440"/>
            <a:ext cx="640080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9743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% by column — silver financials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635240" y="23774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5"/>
          <p:cNvSpPr txBox="1"/>
          <p:nvPr/>
        </p:nvSpPr>
        <p:spPr>
          <a:xfrm>
            <a:off x="7799832" y="249631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99832" y="279806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Credit_Mix null — the largest gap in financials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710928" y="237744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4F6F8"/>
          </a:solidFill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8"/>
          <p:cNvSpPr txBox="1"/>
          <p:nvPr/>
        </p:nvSpPr>
        <p:spPr>
          <a:xfrm>
            <a:off x="9875520" y="2496312"/>
            <a:ext cx="1636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875520" y="279806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of Min Amount null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3703320"/>
            <a:ext cx="4041648" cy="2194560"/>
          </a:xfrm>
          <a:prstGeom prst="roundRect">
            <a:avLst>
              <a:gd name="adj" fmla="val 2500"/>
            </a:avLst>
          </a:prstGeom>
          <a:solidFill>
            <a:srgbClr val="EAF0F6"/>
          </a:solidFill>
          <a:ln w="12700">
            <a:solidFill>
              <a:srgbClr val="3E669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1"/>
          <p:cNvSpPr txBox="1"/>
          <p:nvPr/>
        </p:nvSpPr>
        <p:spPr>
          <a:xfrm>
            <a:off x="7836408" y="3849624"/>
            <a:ext cx="3639312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are left as nulls in silver and gold rather than mean/mode-filled. Imputation strategy depends on the downstream model.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1090</Words>
  <Application>Microsoft Office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KOH We Kiat</cp:lastModifiedBy>
  <cp:revision>4</cp:revision>
  <dcterms:created xsi:type="dcterms:W3CDTF">2026-09-27T12:26:52Z</dcterms:created>
  <dcterms:modified xsi:type="dcterms:W3CDTF">2026-09-27T13:05:52Z</dcterms:modified>
</cp:coreProperties>
</file>